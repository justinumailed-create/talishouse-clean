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24384000" cy="13716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WRAP COVER. Page 1 of the exported PDF becomes the cover: the LEFT half is the back cover and the RIGHT half is the front cover. Replace both images and edit Project Name / Slogan. Delete the yellow template note before exporting. Replace the image: click it, then use Replace / Change Picture (PowerPoint: right-click › Change Picture; Keynote: Replace in the image's Format panel or drag a photo onto it; Google Slides: right-click › Replace image). Edit any text. Add or delete slides as needed (20 slides recommended max). When done, export as PDF and upload it in the Mapsite eBook builder.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AISHA'S TERMS OF SERVICE (book pages 2–3). Keep this spread at position 2. Prices are in CAD. This slide becomes one two-page spread in the eBook: the left half is the left page, the right half is the right page. Replace the image: click it, then use Replace / Change Picture (PowerPoint: right-click › Change Picture; Keynote: Replace in the image's Format panel or drag a photo onto it; Google Slides: right-click › Replace image). Edit any text. Add or delete slides as needed (20 slides recommended max). When done, export as PDF and upload it in the Mapsite eBook builder.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 SPREAD. Replace the image with your welcome / hero photo. This slide becomes one two-page spread in the eBook: the left half is the left page, the right half is the right page. Replace the image: click it, then use Replace / Change Picture (PowerPoint: right-click › Change Picture; Keynote: Replace in the image's Format panel or drag a photo onto it; Google Slides: right-click › Replace image). Edit any text. Add or delete slides as needed (20 slides recommended max). When done, export as PDF and upload it in the Mapsite eBook builder.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SPREAD 1. One photo across both pages; edit the caption. This slide becomes one two-page spread in the eBook: the left half is the left page, the right half is the right page. Replace the image: click it, then use Replace / Change Picture (PowerPoint: right-click › Change Picture; Keynote: Replace in the image's Format panel or drag a photo onto it; Google Slides: right-click › Replace image). Edit any text. Add or delete slides as needed (20 slides recommended max). When done, export as PDF and upload it in the Mapsite eBook builder.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SPREAD 2. One photo across both pages; edit the caption. This slide becomes one two-page spread in the eBook: the left half is the left page, the right half is the right page. Replace the image: click it, then use Replace / Change Picture (PowerPoint: right-click › Change Picture; Keynote: Replace in the image's Format panel or drag a photo onto it; Google Slides: right-click › Replace image). Edit any text. Add or delete slides as needed (20 slides recommended max). When done, export as PDF and upload it in the Mapsite eBook builder.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SPREAD 3. One photo across both pages; edit the caption. This slide becomes one two-page spread in the eBook: the left half is the left page, the right half is the right page. Replace the image: click it, then use Replace / Change Picture (PowerPoint: right-click › Change Picture; Keynote: Replace in the image's Format panel or drag a photo onto it; Google Slides: right-click › Replace image). Edit any text. Add or delete slides as needed (20 slides recommended max). When done, export as PDF and upload it in the Mapsite eBook builder.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SPREAD 4. One photo across both pages; edit the caption. This slide becomes one two-page spread in the eBook: the left half is the left page, the right half is the right page. Replace the image: click it, then use Replace / Change Picture (PowerPoint: right-click › Change Picture; Keynote: Replace in the image's Format panel or drag a photo onto it; Google Slides: right-click › Replace image). Edit any text. Add or delete slides as needed (20 slides recommended max). When done, export as PDF and upload it in the Mapsite eBook builder.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SPREAD 5. One photo across both pages; edit the caption. This slide becomes one two-page spread in the eBook: the left half is the left page, the right half is the right page. Replace the image: click it, then use Replace / Change Picture (PowerPoint: right-click › Change Picture; Keynote: Replace in the image's Format panel or drag a photo onto it; Google Slides: right-click › Replace image). Edit any text. Add or delete slides as needed (20 slides recommended max). When done, export as PDF and upload it in the Mapsite eBook builder.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SPREAD 6. One photo across both pages; edit the caption. This slide becomes one two-page spread in the eBook: the left half is the left page, the right half is the right page. Replace the image: click it, then use Replace / Change Picture (PowerPoint: right-click › Change Picture; Keynote: Replace in the image's Format panel or drag a photo onto it; Google Slides: right-click › Replace image). Edit any text. Add or delete slides as needed (20 slides recommended max). When done, export as PDF and upload it in the Mapsite eBook builder.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TWO-PAGE SPREAD 1. A separate photo on the left page and the right page; edit both captions. This slide becomes one two-page spread in the eBook: the left half is the left page, the right half is the right page. Replace the image: click it, then use Replace / Change Picture (PowerPoint: right-click › Change Picture; Keynote: Replace in the image's Format panel or drag a photo onto it; Google Slides: right-click › Replace image). Edit any text. Add or delete slides as needed (20 slides recommended max). When done, export as PDF and upload it in the Mapsite eBook builder.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TWO-PAGE SPREAD 2. A separate photo on the left page and the right page; edit both captions. This slide becomes one two-page spread in the eBook: the left half is the left page, the right half is the right page. Replace the image: click it, then use Replace / Change Picture (PowerPoint: right-click › Change Picture; Keynote: Replace in the image's Format panel or drag a photo onto it; Google Slides: right-click › Replace image). Edit any text. Add or delete slides as needed (20 slides recommended max). When done, export as PDF and upload it in the Mapsite eBook builder.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TWO-PAGE SPREAD 3. A separate photo on the left page and the right page; edit both captions. This slide becomes one two-page spread in the eBook: the left half is the left page, the right half is the right page. Replace the image: click it, then use Replace / Change Picture (PowerPoint: right-click › Change Picture; Keynote: Replace in the image's Format panel or drag a photo onto it; Google Slides: right-click › Replace image). Edit any text. Add or delete slides as needed (20 slides recommended max). When done, export as PDF and upload it in the Mapsite eBook builder.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TWO-PAGE SPREAD 4. A separate photo on the left page and the right page; edit both captions. This slide becomes one two-page spread in the eBook: the left half is the left page, the right half is the right page. Replace the image: click it, then use Replace / Change Picture (PowerPoint: right-click › Change Picture; Keynote: Replace in the image's Format panel or drag a photo onto it; Google Slides: right-click › Replace image). Edit any text. Add or delete slides as needed (20 slides recommended max). When done, export as PDF and upload it in the Mapsite eBook builder.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TWO-PAGE SPREAD 5. A separate photo on the left page and the right page; edit both captions. This slide becomes one two-page spread in the eBook: the left half is the left page, the right half is the right page. Replace the image: click it, then use Replace / Change Picture (PowerPoint: right-click › Change Picture; Keynote: Replace in the image's Format panel or drag a photo onto it; Google Slides: right-click › Replace image). Edit any text. Add or delete slides as needed (20 slides recommended max). When done, export as PDF and upload it in the Mapsite eBook builder.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TWO-PAGE SPREAD 6. A separate photo on the left page and the right page; edit both captions. This slide becomes one two-page spread in the eBook: the left half is the left page, the right half is the right page. Replace the image: click it, then use Replace / Change Picture (PowerPoint: right-click › Change Picture; Keynote: Replace in the image's Format panel or drag a photo onto it; Google Slides: right-click › Replace image). Edit any text. Add or delete slides as needed (20 slides recommended max). When done, export as PDF and upload it in the Mapsite eBook builder.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VALUE ADDED PROPOSAL. Replace the left-page image (e.g. Tiny Homes in front of your cover property) and edit the proposal text. This slide becomes one two-page spread in the eBook: the left half is the left page, the right half is the right page. Replace the image: click it, then use Replace / Change Picture (PowerPoint: right-click › Change Picture; Keynote: Replace in the image's Format panel or drag a photo onto it; Google Slides: right-click › Replace image). Edit any text. Add or delete slides as needed (20 slides recommended max). When done, export as PDF and upload it in the Mapsite eBook builder.</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PRODUCT SPEC SPREAD (G-House Specs.). Replace the product photo and edit the spec panel, or delete this slide if it does not apply. Prices are in CAD. This slide becomes one two-page spread in the eBook: the left half is the left page, the right half is the right page. Replace the image: click it, then use Replace / Change Picture (PowerPoint: right-click › Change Picture; Keynote: Replace in the image's Format panel or drag a photo onto it; Google Slides: right-click › Replace image). Edit any text. Add or delete slides as needed (20 slides recommended max). When done, export as PDF and upload it in the Mapsite eBook builder.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PRODUCT SPEC SPREAD (T-Dome Specs.). Replace the product photo and edit the spec panel, or delete this slide if it does not apply. Prices are in CAD. This slide becomes one two-page spread in the eBook: the left half is the left page, the right half is the right page. Replace the image: click it, then use Replace / Change Picture (PowerPoint: right-click › Change Picture; Keynote: Replace in the image's Format panel or drag a photo onto it; Google Slides: right-click › Replace image). Edit any text. Add or delete slides as needed (20 slides recommended max). When done, export as PDF and upload it in the Mapsite eBook builder.</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PRODUCT SPEC SPREAD (T-House Specs.). Replace the product photo and edit the spec panel, or delete this slide if it does not apply. Prices are in CAD. This slide becomes one two-page spread in the eBook: the left half is the left page, the right half is the right page. Replace the image: click it, then use Replace / Change Picture (PowerPoint: right-click › Change Picture; Keynote: Replace in the image's Format panel or drag a photo onto it; Google Slides: right-click › Replace image). Edit any text. Add or delete slides as needed (20 slides recommended max). When done, export as PDF and upload it in the Mapsite eBook builder.</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OUTRO SPREAD. Replace the image with your closing photo. This slide becomes one two-page spread in the eBook: the left half is the left page, the right half is the right page. Replace the image: click it, then use Replace / Change Picture (PowerPoint: right-click › Change Picture; Keynote: Replace in the image's Format panel or drag a photo onto it; Google Slides: right-click › Replace image). Edit any text. Add or delete slides as needed (20 slides recommended max). When done, export as PDF and upload it in the Mapsite eBook builder.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Wrap Cover">
    <p:spTree>
      <p:nvGrpSpPr>
        <p:cNvPr id="1" name=""/>
        <p:cNvGrpSpPr/>
        <p:nvPr/>
      </p:nvGrpSpPr>
      <p:grpSpPr>
        <a:xfrm>
          <a:off x="0" y="0"/>
          <a:ext cx="0" cy="0"/>
          <a:chOff x="0" y="0"/>
          <a:chExt cx="0" cy="0"/>
        </a:xfrm>
      </p:grpSpPr>
      <p:sp>
        <p:nvSpPr>
          <p:cNvPr id="2" name="Back cover image"/>
          <p:cNvSpPr>
            <a:spLocks noGrp="1"/>
          </p:cNvSpPr>
          <p:nvPr>
            <p:ph type="pic" sz="quarter" idx="10"/>
          </p:nvPr>
        </p:nvSpPr>
        <p:spPr>
          <a:xfrm>
            <a:off x="0" y="0"/>
            <a:ext cx="12192000" cy="13716000"/>
          </a:xfrm>
          <a:prstGeom prst="rect">
            <a:avLst/>
          </a:prstGeom>
          <a:solidFill>
            <a:srgbClr val="BFBFBF"/>
          </a:solidFill>
        </p:spPr>
        <p:txBody>
          <a:bodyPr anchor="ctr"/>
          <a:lstStyle>
            <a:lvl1pPr marL="0" indent="0" algn="ctr">
              <a:buNone/>
              <a:defRPr sz="4000">
                <a:solidFill>
                  <a:srgbClr val="595959"/>
                </a:solidFill>
              </a:defRPr>
            </a:lvl1pPr>
          </a:lstStyle>
          <a:p>
            <a:r>
              <a:rPr lang="en-US"/>
              <a:t>Back cover image (left half)</a:t>
            </a:r>
          </a:p>
        </p:txBody>
      </p:sp>
      <p:sp>
        <p:nvSpPr>
          <p:cNvPr id="3" name="Front cover image"/>
          <p:cNvSpPr>
            <a:spLocks noGrp="1"/>
          </p:cNvSpPr>
          <p:nvPr>
            <p:ph type="pic" sz="quarter" idx="11"/>
          </p:nvPr>
        </p:nvSpPr>
        <p:spPr>
          <a:xfrm>
            <a:off x="12192000" y="0"/>
            <a:ext cx="12192000" cy="13716000"/>
          </a:xfrm>
          <a:prstGeom prst="rect">
            <a:avLst/>
          </a:prstGeom>
          <a:solidFill>
            <a:srgbClr val="BFBFBF"/>
          </a:solidFill>
        </p:spPr>
        <p:txBody>
          <a:bodyPr anchor="ctr"/>
          <a:lstStyle>
            <a:lvl1pPr marL="0" indent="0" algn="ctr">
              <a:buNone/>
              <a:defRPr sz="4000">
                <a:solidFill>
                  <a:srgbClr val="595959"/>
                </a:solidFill>
              </a:defRPr>
            </a:lvl1pPr>
          </a:lstStyle>
          <a:p>
            <a:r>
              <a:rPr lang="en-US"/>
              <a:t>Front cover image (right half)</a:t>
            </a:r>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Spread - Full Image">
    <p:spTree>
      <p:nvGrpSpPr>
        <p:cNvPr id="1" name=""/>
        <p:cNvGrpSpPr/>
        <p:nvPr/>
      </p:nvGrpSpPr>
      <p:grpSpPr>
        <a:xfrm>
          <a:off x="0" y="0"/>
          <a:ext cx="0" cy="0"/>
          <a:chOff x="0" y="0"/>
          <a:chExt cx="0" cy="0"/>
        </a:xfrm>
      </p:grpSpPr>
      <p:sp>
        <p:nvSpPr>
          <p:cNvPr id="2" name="Spread image"/>
          <p:cNvSpPr>
            <a:spLocks noGrp="1"/>
          </p:cNvSpPr>
          <p:nvPr>
            <p:ph type="pic" sz="quarter" idx="10"/>
          </p:nvPr>
        </p:nvSpPr>
        <p:spPr>
          <a:xfrm>
            <a:off x="0" y="0"/>
            <a:ext cx="24384000" cy="13716000"/>
          </a:xfrm>
          <a:prstGeom prst="rect">
            <a:avLst/>
          </a:prstGeom>
          <a:solidFill>
            <a:srgbClr val="BFBFBF"/>
          </a:solidFill>
        </p:spPr>
        <p:txBody>
          <a:bodyPr anchor="ctr"/>
          <a:lstStyle>
            <a:lvl1pPr marL="0" indent="0" algn="ctr">
              <a:buNone/>
              <a:defRPr sz="4000">
                <a:solidFill>
                  <a:srgbClr val="595959"/>
                </a:solidFill>
              </a:defRPr>
            </a:lvl1pPr>
          </a:lstStyle>
          <a:p>
            <a:r>
              <a:rPr lang="en-US"/>
              <a:t>Click the icon to add a spread image</a:t>
            </a:r>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pread - Two Pages">
    <p:spTree>
      <p:nvGrpSpPr>
        <p:cNvPr id="1" name=""/>
        <p:cNvGrpSpPr/>
        <p:nvPr/>
      </p:nvGrpSpPr>
      <p:grpSpPr>
        <a:xfrm>
          <a:off x="0" y="0"/>
          <a:ext cx="0" cy="0"/>
          <a:chOff x="0" y="0"/>
          <a:chExt cx="0" cy="0"/>
        </a:xfrm>
      </p:grpSpPr>
      <p:sp>
        <p:nvSpPr>
          <p:cNvPr id="2" name="Left page image"/>
          <p:cNvSpPr>
            <a:spLocks noGrp="1"/>
          </p:cNvSpPr>
          <p:nvPr>
            <p:ph type="pic" sz="quarter" idx="10"/>
          </p:nvPr>
        </p:nvSpPr>
        <p:spPr>
          <a:xfrm>
            <a:off x="0" y="0"/>
            <a:ext cx="12192000" cy="13716000"/>
          </a:xfrm>
          <a:prstGeom prst="rect">
            <a:avLst/>
          </a:prstGeom>
          <a:solidFill>
            <a:srgbClr val="BFBFBF"/>
          </a:solidFill>
        </p:spPr>
        <p:txBody>
          <a:bodyPr anchor="ctr"/>
          <a:lstStyle>
            <a:lvl1pPr marL="0" indent="0" algn="ctr">
              <a:buNone/>
              <a:defRPr sz="4000">
                <a:solidFill>
                  <a:srgbClr val="595959"/>
                </a:solidFill>
              </a:defRPr>
            </a:lvl1pPr>
          </a:lstStyle>
          <a:p>
            <a:r>
              <a:rPr lang="en-US"/>
              <a:t>Left page image</a:t>
            </a:r>
          </a:p>
        </p:txBody>
      </p:sp>
      <p:sp>
        <p:nvSpPr>
          <p:cNvPr id="3" name="Right page image"/>
          <p:cNvSpPr>
            <a:spLocks noGrp="1"/>
          </p:cNvSpPr>
          <p:nvPr>
            <p:ph type="pic" sz="quarter" idx="11"/>
          </p:nvPr>
        </p:nvSpPr>
        <p:spPr>
          <a:xfrm>
            <a:off x="12192000" y="0"/>
            <a:ext cx="12192000" cy="13716000"/>
          </a:xfrm>
          <a:prstGeom prst="rect">
            <a:avLst/>
          </a:prstGeom>
          <a:solidFill>
            <a:srgbClr val="BFBFBF"/>
          </a:solidFill>
        </p:spPr>
        <p:txBody>
          <a:bodyPr anchor="ctr"/>
          <a:lstStyle>
            <a:lvl1pPr marL="0" indent="0" algn="ctr">
              <a:buNone/>
              <a:defRPr sz="4000">
                <a:solidFill>
                  <a:srgbClr val="595959"/>
                </a:solidFill>
              </a:defRPr>
            </a:lvl1pPr>
          </a:lstStyle>
          <a:p>
            <a:r>
              <a:rPr lang="en-US"/>
              <a:t>Right page image</a:t>
            </a:r>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Spread - Image + Text">
    <p:spTree>
      <p:nvGrpSpPr>
        <p:cNvPr id="1" name=""/>
        <p:cNvGrpSpPr/>
        <p:nvPr/>
      </p:nvGrpSpPr>
      <p:grpSpPr>
        <a:xfrm>
          <a:off x="0" y="0"/>
          <a:ext cx="0" cy="0"/>
          <a:chOff x="0" y="0"/>
          <a:chExt cx="0" cy="0"/>
        </a:xfrm>
      </p:grpSpPr>
      <p:sp>
        <p:nvSpPr>
          <p:cNvPr id="2" name="Left page image"/>
          <p:cNvSpPr>
            <a:spLocks noGrp="1"/>
          </p:cNvSpPr>
          <p:nvPr>
            <p:ph type="pic" sz="quarter" idx="10"/>
          </p:nvPr>
        </p:nvSpPr>
        <p:spPr>
          <a:xfrm>
            <a:off x="0" y="0"/>
            <a:ext cx="12192000" cy="13716000"/>
          </a:xfrm>
          <a:prstGeom prst="rect">
            <a:avLst/>
          </a:prstGeom>
          <a:solidFill>
            <a:srgbClr val="BFBFBF"/>
          </a:solidFill>
        </p:spPr>
        <p:txBody>
          <a:bodyPr anchor="ctr"/>
          <a:lstStyle>
            <a:lvl1pPr marL="0" indent="0" algn="ctr">
              <a:buNone/>
              <a:defRPr sz="4000">
                <a:solidFill>
                  <a:srgbClr val="595959"/>
                </a:solidFill>
              </a:defRPr>
            </a:lvl1pPr>
          </a:lstStyle>
          <a:p>
            <a:r>
              <a:rPr lang="en-US"/>
              <a:t>Left page image</a:t>
            </a:r>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Spread - Specs">
    <p:spTree>
      <p:nvGrpSpPr>
        <p:cNvPr id="1" name=""/>
        <p:cNvGrpSpPr/>
        <p:nvPr/>
      </p:nvGrpSpPr>
      <p:grpSpPr>
        <a:xfrm>
          <a:off x="0" y="0"/>
          <a:ext cx="0" cy="0"/>
          <a:chOff x="0" y="0"/>
          <a:chExt cx="0" cy="0"/>
        </a:xfrm>
      </p:grpSpPr>
      <p:sp>
        <p:nvSpPr>
          <p:cNvPr id="2" name="Product image"/>
          <p:cNvSpPr>
            <a:spLocks noGrp="1"/>
          </p:cNvSpPr>
          <p:nvPr>
            <p:ph type="pic" sz="quarter" idx="10"/>
          </p:nvPr>
        </p:nvSpPr>
        <p:spPr>
          <a:xfrm>
            <a:off x="0" y="0"/>
            <a:ext cx="18288000" cy="13716000"/>
          </a:xfrm>
          <a:prstGeom prst="rect">
            <a:avLst/>
          </a:prstGeom>
          <a:solidFill>
            <a:srgbClr val="BFBFBF"/>
          </a:solidFill>
        </p:spPr>
        <p:txBody>
          <a:bodyPr anchor="ctr"/>
          <a:lstStyle>
            <a:lvl1pPr marL="0" indent="0" algn="ctr">
              <a:buNone/>
              <a:defRPr sz="4000">
                <a:solidFill>
                  <a:srgbClr val="595959"/>
                </a:solidFill>
              </a:defRPr>
            </a:lvl1pPr>
          </a:lstStyle>
          <a:p>
            <a:r>
              <a:rPr lang="en-US"/>
              <a:t>Product image</a:t>
            </a:r>
          </a:p>
        </p:txBody>
      </p:sp>
    </p:spTree>
    <p:extLst>
      <p:ext uri="{BB962C8B-B14F-4D97-AF65-F5344CB8AC3E}">
        <p14:creationId xmlns:p14="http://schemas.microsoft.com/office/powerpoint/2010/main" val="990158736"/>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19200" y="549276"/>
            <a:ext cx="21945600" cy="2286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1219200" y="3200400"/>
            <a:ext cx="21945600" cy="9051926"/>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1219200" y="12712700"/>
            <a:ext cx="5689600" cy="730250"/>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8331200" y="12712700"/>
            <a:ext cx="7721600" cy="730250"/>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7475200" y="12712700"/>
            <a:ext cx="5689600" cy="730250"/>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4.jp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5.jp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6.jp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i-000.jpg"/>
          <p:cNvPicPr>
            <a:picLocks noGrp="1" noChangeAspect="1"/>
          </p:cNvPicPr>
          <p:nvPr>
            <p:ph type="pic" idx="10" sz="quarter"/>
          </p:nvPr>
        </p:nvPicPr>
        <p:blipFill>
          <a:blip r:embed="rId2"/>
          <a:srcRect l="5556" r="5556"/>
          <a:stretch>
            <a:fillRect/>
          </a:stretch>
        </p:blipFill>
        <p:spPr/>
      </p:pic>
      <p:pic>
        <p:nvPicPr>
          <p:cNvPr id="3" name="Picture Placeholder 2" descr="art-half.png"/>
          <p:cNvPicPr>
            <a:picLocks noGrp="1" noChangeAspect="1"/>
          </p:cNvPicPr>
          <p:nvPr>
            <p:ph type="pic" idx="11" sz="quarter"/>
          </p:nvPr>
        </p:nvPicPr>
        <p:blipFill>
          <a:blip r:embed="rId3"/>
          <a:srcRect/>
          <a:stretch>
            <a:fillRect/>
          </a:stretch>
        </p:blipFill>
        <p:spPr/>
      </p:pic>
      <p:sp>
        <p:nvSpPr>
          <p:cNvPr id="4" name="Rectangle 3"/>
          <p:cNvSpPr/>
          <p:nvPr/>
        </p:nvSpPr>
        <p:spPr>
          <a:xfrm>
            <a:off x="12192000" y="10223500"/>
            <a:ext cx="12192000" cy="3492500"/>
          </a:xfrm>
          <a:prstGeom prst="rect">
            <a:avLst/>
          </a:prstGeom>
          <a:solidFill>
            <a:srgbClr val="000000">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10223500"/>
            <a:ext cx="12192000" cy="3492500"/>
          </a:xfrm>
          <a:prstGeom prst="rect">
            <a:avLst/>
          </a:prstGeom>
          <a:solidFill>
            <a:srgbClr val="000000">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08000" y="10350500"/>
            <a:ext cx="11176000" cy="787400"/>
          </a:xfrm>
          <a:prstGeom prst="rect">
            <a:avLst/>
          </a:prstGeom>
          <a:noFill/>
        </p:spPr>
        <p:txBody>
          <a:bodyPr wrap="square" anchor="t" lIns="0" rIns="0" tIns="0" bIns="0"/>
          <a:lstStyle/>
          <a:p>
            <a:pPr algn="ctr"/>
            <a:r>
              <a:rPr sz="4600" b="1" i="1">
                <a:solidFill>
                  <a:srgbClr val="B8E506"/>
                </a:solidFill>
                <a:latin typeface="Helvetica Neue"/>
              </a:rPr>
              <a:t>Your Marketing Manager</a:t>
            </a:r>
          </a:p>
        </p:txBody>
      </p:sp>
      <p:sp>
        <p:nvSpPr>
          <p:cNvPr id="7" name="TextBox 6"/>
          <p:cNvSpPr txBox="1"/>
          <p:nvPr/>
        </p:nvSpPr>
        <p:spPr>
          <a:xfrm>
            <a:off x="508000" y="11074400"/>
            <a:ext cx="11176000" cy="1524000"/>
          </a:xfrm>
          <a:prstGeom prst="rect">
            <a:avLst/>
          </a:prstGeom>
          <a:noFill/>
        </p:spPr>
        <p:txBody>
          <a:bodyPr wrap="square" anchor="t" lIns="0" rIns="0" tIns="0" bIns="0"/>
          <a:lstStyle/>
          <a:p>
            <a:pPr algn="ctr"/>
            <a:r>
              <a:rPr sz="9600" b="1" i="0">
                <a:solidFill>
                  <a:srgbClr val="FFFFFF"/>
                </a:solidFill>
                <a:latin typeface="Bradley Hand"/>
              </a:rPr>
              <a:t>Aisha C.</a:t>
            </a:r>
          </a:p>
        </p:txBody>
      </p:sp>
      <p:sp>
        <p:nvSpPr>
          <p:cNvPr id="8" name="TextBox 7"/>
          <p:cNvSpPr txBox="1"/>
          <p:nvPr/>
        </p:nvSpPr>
        <p:spPr>
          <a:xfrm>
            <a:off x="508000" y="12573000"/>
            <a:ext cx="11176000" cy="1016000"/>
          </a:xfrm>
          <a:prstGeom prst="rect">
            <a:avLst/>
          </a:prstGeom>
          <a:noFill/>
        </p:spPr>
        <p:txBody>
          <a:bodyPr wrap="square" anchor="ctr" lIns="0" rIns="0" tIns="0" bIns="0"/>
          <a:lstStyle/>
          <a:p>
            <a:pPr algn="ctr"/>
            <a:r>
              <a:rPr sz="3000" b="0" i="1">
                <a:solidFill>
                  <a:srgbClr val="FFFFFF"/>
                </a:solidFill>
                <a:latin typeface="Helvetica Neue"/>
              </a:rPr>
              <a:t>Thank you for considering working with us.</a:t>
            </a:r>
          </a:p>
        </p:txBody>
      </p:sp>
      <p:sp>
        <p:nvSpPr>
          <p:cNvPr id="9" name="TextBox 8"/>
          <p:cNvSpPr txBox="1"/>
          <p:nvPr/>
        </p:nvSpPr>
        <p:spPr>
          <a:xfrm>
            <a:off x="12700000" y="10439400"/>
            <a:ext cx="11176000" cy="1168400"/>
          </a:xfrm>
          <a:prstGeom prst="rect">
            <a:avLst/>
          </a:prstGeom>
          <a:noFill/>
        </p:spPr>
        <p:txBody>
          <a:bodyPr wrap="square" anchor="t" lIns="0" rIns="0" tIns="0" bIns="0"/>
          <a:lstStyle/>
          <a:p>
            <a:pPr algn="ctr"/>
            <a:r>
              <a:rPr sz="7000" b="1" i="0">
                <a:solidFill>
                  <a:srgbClr val="FFFFFF"/>
                </a:solidFill>
                <a:latin typeface="Helvetica Neue"/>
              </a:rPr>
              <a:t>Project Name</a:t>
            </a:r>
          </a:p>
        </p:txBody>
      </p:sp>
      <p:sp>
        <p:nvSpPr>
          <p:cNvPr id="10" name="TextBox 9"/>
          <p:cNvSpPr txBox="1"/>
          <p:nvPr/>
        </p:nvSpPr>
        <p:spPr>
          <a:xfrm>
            <a:off x="12700000" y="11620500"/>
            <a:ext cx="11176000" cy="889000"/>
          </a:xfrm>
          <a:prstGeom prst="rect">
            <a:avLst/>
          </a:prstGeom>
          <a:noFill/>
        </p:spPr>
        <p:txBody>
          <a:bodyPr wrap="square" anchor="t" lIns="0" rIns="0" tIns="0" bIns="0"/>
          <a:lstStyle/>
          <a:p>
            <a:pPr algn="ctr"/>
            <a:r>
              <a:rPr sz="5200" b="1" i="1">
                <a:solidFill>
                  <a:srgbClr val="B8E506"/>
                </a:solidFill>
                <a:latin typeface="Helvetica Neue"/>
              </a:rPr>
              <a:t>Slogan</a:t>
            </a:r>
          </a:p>
        </p:txBody>
      </p:sp>
      <p:sp>
        <p:nvSpPr>
          <p:cNvPr id="11" name="TextBox 10"/>
          <p:cNvSpPr txBox="1"/>
          <p:nvPr/>
        </p:nvSpPr>
        <p:spPr>
          <a:xfrm>
            <a:off x="12700000" y="12928600"/>
            <a:ext cx="11176000" cy="508000"/>
          </a:xfrm>
          <a:prstGeom prst="rect">
            <a:avLst/>
          </a:prstGeom>
          <a:noFill/>
        </p:spPr>
        <p:txBody>
          <a:bodyPr wrap="square" anchor="t" lIns="0" rIns="0" tIns="0" bIns="0"/>
          <a:lstStyle/>
          <a:p>
            <a:pPr algn="ctr"/>
            <a:r>
              <a:rPr sz="2600" b="0" i="0">
                <a:solidFill>
                  <a:srgbClr val="B8E506"/>
                </a:solidFill>
                <a:latin typeface="Helvetica Neue"/>
              </a:rPr>
              <a:t>Available with or without Value Added Products.</a:t>
            </a:r>
          </a:p>
        </p:txBody>
      </p:sp>
      <p:sp>
        <p:nvSpPr>
          <p:cNvPr id="12" name="Template note (delete before export)"/>
          <p:cNvSpPr/>
          <p:nvPr/>
        </p:nvSpPr>
        <p:spPr>
          <a:xfrm>
            <a:off x="15367000" y="304800"/>
            <a:ext cx="8763000" cy="3810000"/>
          </a:xfrm>
          <a:prstGeom prst="rect">
            <a:avLst/>
          </a:prstGeom>
          <a:solidFill>
            <a:srgbClr val="FFF39E"/>
          </a:solidFill>
          <a:ln>
            <a:solidFill>
              <a:srgbClr val="E0C200"/>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228600" bIns="228600"/>
          <a:lstStyle/>
          <a:p>
            <a:pPr>
              <a:spcAft>
                <a:spcPts val="600"/>
              </a:spcAft>
            </a:pPr>
            <a:r>
              <a:rPr sz="2400" b="1">
                <a:solidFill>
                  <a:srgbClr val="1D1D1F"/>
                </a:solidFill>
                <a:latin typeface="Helvetica Neue"/>
              </a:rPr>
              <a:t>TEMPLATE NOTE · delete this box before exporting</a:t>
            </a:r>
          </a:p>
          <a:p>
            <a:pPr>
              <a:spcAft>
                <a:spcPts val="600"/>
              </a:spcAft>
            </a:pPr>
            <a:r>
              <a:rPr sz="2100" b="0">
                <a:solidFill>
                  <a:srgbClr val="1D1D1F"/>
                </a:solidFill>
                <a:latin typeface="Helvetica Neue"/>
              </a:rPr>
              <a:t>1. Replace the images (click an image › Replace / Change Picture).</a:t>
            </a:r>
          </a:p>
          <a:p>
            <a:pPr>
              <a:spcAft>
                <a:spcPts val="600"/>
              </a:spcAft>
            </a:pPr>
            <a:r>
              <a:rPr sz="2100" b="0">
                <a:solidFill>
                  <a:srgbClr val="1D1D1F"/>
                </a:solidFill>
                <a:latin typeface="Helvetica Neue"/>
              </a:rPr>
              <a:t>2. Edit the text. Add or delete slides as needed: 20 slides recommended max.</a:t>
            </a:r>
          </a:p>
          <a:p>
            <a:pPr>
              <a:spcAft>
                <a:spcPts val="600"/>
              </a:spcAft>
            </a:pPr>
            <a:r>
              <a:rPr sz="2100" b="0">
                <a:solidFill>
                  <a:srgbClr val="1D1D1F"/>
                </a:solidFill>
                <a:latin typeface="Helvetica Neue"/>
              </a:rPr>
              <a:t>3. Slide 1 is the wrap cover: left half = back cover, right half = front cover. Every other slide is one two-page spread.</a:t>
            </a:r>
          </a:p>
          <a:p>
            <a:pPr>
              <a:spcAft>
                <a:spcPts val="600"/>
              </a:spcAft>
            </a:pPr>
            <a:r>
              <a:rPr sz="2100" b="0">
                <a:solidFill>
                  <a:srgbClr val="1D1D1F"/>
                </a:solidFill>
                <a:latin typeface="Helvetica Neue"/>
              </a:rPr>
              <a:t>4. Export as PDF and upload it in the Mapsite eBook builder.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i-000.jpg"/>
          <p:cNvPicPr>
            <a:picLocks noGrp="1" noChangeAspect="1"/>
          </p:cNvPicPr>
          <p:nvPr>
            <p:ph type="pic" idx="10" sz="quarter"/>
          </p:nvPr>
        </p:nvPicPr>
        <p:blipFill>
          <a:blip r:embed="rId2"/>
          <a:srcRect l="5556" r="5556"/>
          <a:stretch>
            <a:fillRect/>
          </a:stretch>
        </p:blipFill>
        <p:spPr/>
      </p:pic>
      <p:sp>
        <p:nvSpPr>
          <p:cNvPr id="3" name="Rectangle 2"/>
          <p:cNvSpPr/>
          <p:nvPr/>
        </p:nvSpPr>
        <p:spPr>
          <a:xfrm>
            <a:off x="0" y="10223500"/>
            <a:ext cx="12192000" cy="3492500"/>
          </a:xfrm>
          <a:prstGeom prst="rect">
            <a:avLst/>
          </a:prstGeom>
          <a:solidFill>
            <a:srgbClr val="000000">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8000" y="10350500"/>
            <a:ext cx="11176000" cy="787400"/>
          </a:xfrm>
          <a:prstGeom prst="rect">
            <a:avLst/>
          </a:prstGeom>
          <a:noFill/>
        </p:spPr>
        <p:txBody>
          <a:bodyPr wrap="square" anchor="t" lIns="0" rIns="0" tIns="0" bIns="0"/>
          <a:lstStyle/>
          <a:p>
            <a:pPr algn="ctr"/>
            <a:r>
              <a:rPr sz="4600" b="1" i="1">
                <a:solidFill>
                  <a:srgbClr val="B8E506"/>
                </a:solidFill>
                <a:latin typeface="Helvetica Neue"/>
              </a:rPr>
              <a:t>Marketing Manager</a:t>
            </a:r>
          </a:p>
        </p:txBody>
      </p:sp>
      <p:sp>
        <p:nvSpPr>
          <p:cNvPr id="5" name="TextBox 4"/>
          <p:cNvSpPr txBox="1"/>
          <p:nvPr/>
        </p:nvSpPr>
        <p:spPr>
          <a:xfrm>
            <a:off x="508000" y="11074400"/>
            <a:ext cx="11176000" cy="1524000"/>
          </a:xfrm>
          <a:prstGeom prst="rect">
            <a:avLst/>
          </a:prstGeom>
          <a:noFill/>
        </p:spPr>
        <p:txBody>
          <a:bodyPr wrap="square" anchor="t" lIns="0" rIns="0" tIns="0" bIns="0"/>
          <a:lstStyle/>
          <a:p>
            <a:pPr algn="ctr"/>
            <a:r>
              <a:rPr sz="9600" b="1" i="0">
                <a:solidFill>
                  <a:srgbClr val="FFFFFF"/>
                </a:solidFill>
                <a:latin typeface="Bradley Hand"/>
              </a:rPr>
              <a:t>Aisha C.</a:t>
            </a:r>
          </a:p>
        </p:txBody>
      </p:sp>
      <p:sp>
        <p:nvSpPr>
          <p:cNvPr id="6" name="TextBox 5"/>
          <p:cNvSpPr txBox="1"/>
          <p:nvPr/>
        </p:nvSpPr>
        <p:spPr>
          <a:xfrm>
            <a:off x="508000" y="12573000"/>
            <a:ext cx="11176000" cy="1016000"/>
          </a:xfrm>
          <a:prstGeom prst="rect">
            <a:avLst/>
          </a:prstGeom>
          <a:noFill/>
        </p:spPr>
        <p:txBody>
          <a:bodyPr wrap="square" anchor="ctr" lIns="0" rIns="0" tIns="0" bIns="0"/>
          <a:lstStyle/>
          <a:p>
            <a:pPr algn="ctr"/>
            <a:r>
              <a:rPr sz="3000" b="0" i="1">
                <a:solidFill>
                  <a:srgbClr val="FFFFFF"/>
                </a:solidFill>
                <a:latin typeface="Helvetica Neue"/>
              </a:rPr>
              <a:t>To discuss your PIN opportunities call +1-888-585-5288.</a:t>
            </a:r>
          </a:p>
          <a:p>
            <a:pPr algn="ctr"/>
            <a:r>
              <a:rPr sz="3000" b="0" i="1">
                <a:solidFill>
                  <a:srgbClr val="FFFFFF"/>
                </a:solidFill>
                <a:latin typeface="Helvetica Neue"/>
              </a:rPr>
              <a:t>One of our team members will be happy to assist.</a:t>
            </a:r>
          </a:p>
        </p:txBody>
      </p:sp>
      <p:sp>
        <p:nvSpPr>
          <p:cNvPr id="7" name="Terms of Service"/>
          <p:cNvSpPr txBox="1"/>
          <p:nvPr/>
        </p:nvSpPr>
        <p:spPr>
          <a:xfrm>
            <a:off x="13652500" y="508000"/>
            <a:ext cx="9271000" cy="12065000"/>
          </a:xfrm>
          <a:prstGeom prst="rect">
            <a:avLst/>
          </a:prstGeom>
          <a:noFill/>
        </p:spPr>
        <p:txBody>
          <a:bodyPr wrap="square" anchor="t" lIns="0" rIns="0" tIns="0" bIns="0"/>
          <a:lstStyle/>
          <a:p>
            <a:pPr algn="ctr">
              <a:spcAft>
                <a:spcPts val="1400"/>
              </a:spcAft>
            </a:pPr>
            <a:r>
              <a:rPr sz="4000" b="0" i="0">
                <a:solidFill>
                  <a:srgbClr val="1D1D1F"/>
                </a:solidFill>
                <a:latin typeface="Helvetica Neue"/>
              </a:rPr>
              <a:t>Terms of Service</a:t>
            </a:r>
          </a:p>
          <a:p>
            <a:pPr algn="l">
              <a:spcAft>
                <a:spcPts val="1000"/>
              </a:spcAft>
            </a:pPr>
            <a:r>
              <a:rPr sz="2200" b="0" i="0">
                <a:solidFill>
                  <a:srgbClr val="1D1D1F"/>
                </a:solidFill>
                <a:latin typeface="Helvetica Neue"/>
              </a:rPr>
              <a:t>We charge $998.50 CAD annually to register full accounts*, $98.50 CAD monthly to maintain and promote them, plus $7 CAD per PIN. Your Home PIN is included free of charge with every account, of course.</a:t>
            </a:r>
          </a:p>
          <a:p>
            <a:pPr algn="ctr"/>
            <a:r>
              <a:rPr sz="2500" b="1" i="0">
                <a:solidFill>
                  <a:srgbClr val="1D1D1F"/>
                </a:solidFill>
                <a:latin typeface="Helvetica Neue"/>
              </a:rPr>
              <a:t>We require no long term commitment, and…</a:t>
            </a:r>
          </a:p>
          <a:p>
            <a:pPr algn="ctr">
              <a:spcAft>
                <a:spcPts val="1800"/>
              </a:spcAft>
            </a:pPr>
            <a:r>
              <a:rPr sz="2500" b="1" i="0">
                <a:solidFill>
                  <a:srgbClr val="1D1D1F"/>
                </a:solidFill>
                <a:latin typeface="Helvetica Neue"/>
              </a:rPr>
              <a:t>we charge no brokerage fees.</a:t>
            </a:r>
          </a:p>
          <a:p>
            <a:pPr algn="l">
              <a:spcAft>
                <a:spcPts val="600"/>
              </a:spcAft>
            </a:pPr>
            <a:r>
              <a:rPr sz="2600" b="1" i="0">
                <a:solidFill>
                  <a:srgbClr val="1D1D1F"/>
                </a:solidFill>
                <a:latin typeface="Helvetica Neue"/>
              </a:rPr>
              <a:t>Deliverables</a:t>
            </a:r>
          </a:p>
          <a:p>
            <a:pPr algn="l" marL="381000" indent="-381000">
              <a:spcAft>
                <a:spcPts val="400"/>
              </a:spcAft>
            </a:pPr>
            <a:r>
              <a:rPr sz="2200" b="0" i="0">
                <a:solidFill>
                  <a:srgbClr val="1D1D1F"/>
                </a:solidFill>
                <a:latin typeface="Helvetica Neue"/>
              </a:rPr>
              <a:t>1.  The account Mapsite with up to 100 PIN functionality;</a:t>
            </a:r>
          </a:p>
          <a:p>
            <a:pPr algn="l" marL="381000" indent="-381000">
              <a:spcAft>
                <a:spcPts val="400"/>
              </a:spcAft>
            </a:pPr>
            <a:r>
              <a:rPr sz="2200" b="0" i="0">
                <a:solidFill>
                  <a:srgbClr val="1D1D1F"/>
                </a:solidFill>
                <a:latin typeface="Helvetica Neue"/>
              </a:rPr>
              <a:t>2.  One PIN each URL, MLS® and TEB flag links that are fully functional to deliver immediate operational value; and…</a:t>
            </a:r>
          </a:p>
          <a:p>
            <a:pPr algn="l" marL="381000" indent="-381000">
              <a:spcAft>
                <a:spcPts val="1400"/>
              </a:spcAft>
            </a:pPr>
            <a:r>
              <a:rPr sz="2200" b="0" i="0">
                <a:solidFill>
                  <a:srgbClr val="1D1D1F"/>
                </a:solidFill>
                <a:latin typeface="Helvetica Neue"/>
              </a:rPr>
              <a:t>3.  One PIN each TTV flag links that are set up, but will not become fully functional until later in 2026, or early in 2027.</a:t>
            </a:r>
          </a:p>
          <a:p>
            <a:pPr algn="l">
              <a:spcAft>
                <a:spcPts val="600"/>
              </a:spcAft>
            </a:pPr>
            <a:r>
              <a:rPr sz="2600" b="1" i="0">
                <a:solidFill>
                  <a:srgbClr val="1D1D1F"/>
                </a:solidFill>
                <a:latin typeface="Helvetica Neue"/>
              </a:rPr>
              <a:t>Immediate Value</a:t>
            </a:r>
          </a:p>
          <a:p>
            <a:pPr algn="l">
              <a:spcAft>
                <a:spcPts val="400"/>
              </a:spcAft>
            </a:pPr>
            <a:r>
              <a:rPr sz="2200" b="0" i="0">
                <a:solidFill>
                  <a:srgbClr val="1D1D1F"/>
                </a:solidFill>
                <a:latin typeface="Helvetica Neue"/>
              </a:rPr>
              <a:t>A Mapsite differentiates you…! How many more good listings will you get because you can offer:</a:t>
            </a:r>
          </a:p>
          <a:p>
            <a:pPr algn="l" marL="381000" indent="-381000">
              <a:spcAft>
                <a:spcPts val="400"/>
              </a:spcAft>
            </a:pPr>
            <a:r>
              <a:rPr sz="2200" b="0" i="0">
                <a:solidFill>
                  <a:srgbClr val="1D1D1F"/>
                </a:solidFill>
                <a:latin typeface="Helvetica Neue"/>
              </a:rPr>
              <a:t>1.  Four marketing and financing methods, incl. Conventional, SPLITS, Fractionalization and Tokenization;</a:t>
            </a:r>
          </a:p>
          <a:p>
            <a:pPr algn="l" marL="381000" indent="-381000">
              <a:spcAft>
                <a:spcPts val="400"/>
              </a:spcAft>
            </a:pPr>
            <a:r>
              <a:rPr sz="2200" b="0" i="0">
                <a:solidFill>
                  <a:srgbClr val="1D1D1F"/>
                </a:solidFill>
                <a:latin typeface="Helvetica Neue"/>
              </a:rPr>
              <a:t>2.  Four participation levels, incl. Root, Derivative*, FSBO** and Adpro** accounts; and…</a:t>
            </a:r>
          </a:p>
          <a:p>
            <a:pPr algn="l" marL="381000" indent="-381000">
              <a:spcAft>
                <a:spcPts val="1400"/>
              </a:spcAft>
            </a:pPr>
            <a:r>
              <a:rPr sz="2200" b="0" i="0">
                <a:solidFill>
                  <a:srgbClr val="1D1D1F"/>
                </a:solidFill>
                <a:latin typeface="Helvetica Neue"/>
              </a:rPr>
              <a:t>3.  Lifestyle and space options, incl. G-House, T-House and T-Dome.</a:t>
            </a:r>
          </a:p>
          <a:p>
            <a:pPr algn="l">
              <a:spcAft>
                <a:spcPts val="1000"/>
              </a:spcAft>
            </a:pPr>
            <a:r>
              <a:rPr sz="2200" b="1" i="0">
                <a:solidFill>
                  <a:srgbClr val="1D1D1F"/>
                </a:solidFill>
                <a:latin typeface="Helvetica Neue"/>
              </a:rPr>
              <a:t>Disclaimer: while we facilitate marketing objectives in real estate and beyond, we are advertisers only. Participating owners rent, lease or sell directly to buyers.</a:t>
            </a:r>
          </a:p>
          <a:p>
            <a:pPr algn="r"/>
            <a:r>
              <a:rPr sz="2200" b="0" i="0">
                <a:solidFill>
                  <a:srgbClr val="1D1D1F"/>
                </a:solidFill>
                <a:latin typeface="Helvetica Neue"/>
              </a:rPr>
              <a:t>Sincerely Yours,</a:t>
            </a:r>
          </a:p>
          <a:p>
            <a:pPr algn="r"/>
            <a:r>
              <a:rPr sz="2200" b="0" i="0">
                <a:solidFill>
                  <a:srgbClr val="1D1D1F"/>
                </a:solidFill>
                <a:latin typeface="Helvetica Neue"/>
              </a:rPr>
              <a:t>Aisha C.</a:t>
            </a:r>
          </a:p>
        </p:txBody>
      </p:sp>
      <p:sp>
        <p:nvSpPr>
          <p:cNvPr id="8" name="Footnotes"/>
          <p:cNvSpPr txBox="1"/>
          <p:nvPr/>
        </p:nvSpPr>
        <p:spPr>
          <a:xfrm>
            <a:off x="13652500" y="12636500"/>
            <a:ext cx="9271000" cy="762000"/>
          </a:xfrm>
          <a:prstGeom prst="rect">
            <a:avLst/>
          </a:prstGeom>
          <a:noFill/>
        </p:spPr>
        <p:txBody>
          <a:bodyPr wrap="square" anchor="t" lIns="0" rIns="0" tIns="0" bIns="0"/>
          <a:lstStyle/>
          <a:p>
            <a:pPr algn="l"/>
            <a:r>
              <a:rPr sz="1100" b="0" i="0">
                <a:solidFill>
                  <a:srgbClr val="1D1D1F"/>
                </a:solidFill>
                <a:latin typeface="Helvetica Neue"/>
              </a:rPr>
              <a:t>*  Derivative Account status reduces the up-front cost to $198.50 CAD annually, but Derivative PINs appear only on affiliated Root Mapsites.</a:t>
            </a:r>
          </a:p>
          <a:p>
            <a:pPr algn="l"/>
            <a:r>
              <a:rPr sz="1100" b="0" i="0">
                <a:solidFill>
                  <a:srgbClr val="1D1D1F"/>
                </a:solidFill>
                <a:latin typeface="Helvetica Neue"/>
              </a:rPr>
              <a:t>** FSBO and Adpro Accounts receive a single PIN, thus there is no $7 CAD per PIN charge.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art-full.png"/>
          <p:cNvPicPr>
            <a:picLocks noGrp="1" noChangeAspect="1"/>
          </p:cNvPicPr>
          <p:nvPr>
            <p:ph type="pic" idx="10" sz="quarter"/>
          </p:nvPr>
        </p:nvPicPr>
        <p:blipFill>
          <a:blip r:embed="rId2"/>
          <a:srcRect/>
          <a:stretch>
            <a:fillRect/>
          </a:stretch>
        </p:blipFill>
        <p:spPr/>
      </p:pic>
      <p:sp>
        <p:nvSpPr>
          <p:cNvPr id="3" name="Title"/>
          <p:cNvSpPr txBox="1"/>
          <p:nvPr/>
        </p:nvSpPr>
        <p:spPr>
          <a:xfrm>
            <a:off x="2032000" y="50800"/>
            <a:ext cx="20320000" cy="2032000"/>
          </a:xfrm>
          <a:prstGeom prst="rect">
            <a:avLst/>
          </a:prstGeom>
          <a:noFill/>
        </p:spPr>
        <p:txBody>
          <a:bodyPr wrap="square" anchor="ctr" lIns="0" rIns="0" tIns="0" bIns="0"/>
          <a:lstStyle/>
          <a:p>
            <a:pPr algn="ctr"/>
            <a:r>
              <a:rPr sz="12800" b="1" i="0">
                <a:solidFill>
                  <a:srgbClr val="FFFFFF"/>
                </a:solidFill>
                <a:latin typeface="Arial Rounded MT Bold"/>
              </a:rPr>
              <a:t>Welcome…!</a:t>
            </a:r>
          </a:p>
        </p:txBody>
      </p:sp>
      <p:sp>
        <p:nvSpPr>
          <p:cNvPr id="4" name="Rectangle 3"/>
          <p:cNvSpPr/>
          <p:nvPr/>
        </p:nvSpPr>
        <p:spPr>
          <a:xfrm>
            <a:off x="0" y="12192000"/>
            <a:ext cx="24384000" cy="1524000"/>
          </a:xfrm>
          <a:prstGeom prst="rect">
            <a:avLst/>
          </a:prstGeom>
          <a:solidFill>
            <a:srgbClr val="00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Caption"/>
          <p:cNvSpPr txBox="1"/>
          <p:nvPr/>
        </p:nvSpPr>
        <p:spPr>
          <a:xfrm>
            <a:off x="0" y="12192000"/>
            <a:ext cx="24384000" cy="1524000"/>
          </a:xfrm>
          <a:prstGeom prst="rect">
            <a:avLst/>
          </a:prstGeom>
          <a:noFill/>
        </p:spPr>
        <p:txBody>
          <a:bodyPr wrap="square" anchor="ctr" lIns="0" rIns="0" tIns="0" bIns="0"/>
          <a:lstStyle/>
          <a:p>
            <a:pPr algn="ctr"/>
            <a:r>
              <a:rPr sz="5400" b="0" i="0">
                <a:solidFill>
                  <a:srgbClr val="FFFFFF"/>
                </a:solidFill>
                <a:latin typeface="Noteworthy"/>
              </a:rPr>
              <a:t>Intro Page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art-full.png"/>
          <p:cNvPicPr>
            <a:picLocks noGrp="1" noChangeAspect="1"/>
          </p:cNvPicPr>
          <p:nvPr>
            <p:ph type="pic" idx="10" sz="quarter"/>
          </p:nvPr>
        </p:nvPicPr>
        <p:blipFill>
          <a:blip r:embed="rId2"/>
          <a:srcRect/>
          <a:stretch>
            <a:fillRect/>
          </a:stretch>
        </p:blipFill>
        <p:spPr/>
      </p:pic>
      <p:sp>
        <p:nvSpPr>
          <p:cNvPr id="3" name="Rectangle 2"/>
          <p:cNvSpPr/>
          <p:nvPr/>
        </p:nvSpPr>
        <p:spPr>
          <a:xfrm>
            <a:off x="0" y="12192000"/>
            <a:ext cx="24384000" cy="1524000"/>
          </a:xfrm>
          <a:prstGeom prst="rect">
            <a:avLst/>
          </a:prstGeom>
          <a:solidFill>
            <a:srgbClr val="00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Caption"/>
          <p:cNvSpPr txBox="1"/>
          <p:nvPr/>
        </p:nvSpPr>
        <p:spPr>
          <a:xfrm>
            <a:off x="0" y="12192000"/>
            <a:ext cx="24384000" cy="1524000"/>
          </a:xfrm>
          <a:prstGeom prst="rect">
            <a:avLst/>
          </a:prstGeom>
          <a:noFill/>
        </p:spPr>
        <p:txBody>
          <a:bodyPr wrap="square" anchor="ctr" lIns="0" rIns="0" tIns="0" bIns="0"/>
          <a:lstStyle/>
          <a:p>
            <a:pPr algn="ctr"/>
            <a:r>
              <a:rPr sz="5400" b="0" i="0">
                <a:solidFill>
                  <a:srgbClr val="FFFFFF"/>
                </a:solidFill>
                <a:latin typeface="Noteworthy"/>
              </a:rPr>
              <a:t>Caption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art-full.png"/>
          <p:cNvPicPr>
            <a:picLocks noGrp="1" noChangeAspect="1"/>
          </p:cNvPicPr>
          <p:nvPr>
            <p:ph type="pic" idx="10" sz="quarter"/>
          </p:nvPr>
        </p:nvPicPr>
        <p:blipFill>
          <a:blip r:embed="rId2"/>
          <a:srcRect/>
          <a:stretch>
            <a:fillRect/>
          </a:stretch>
        </p:blipFill>
        <p:spPr/>
      </p:pic>
      <p:sp>
        <p:nvSpPr>
          <p:cNvPr id="3" name="Rectangle 2"/>
          <p:cNvSpPr/>
          <p:nvPr/>
        </p:nvSpPr>
        <p:spPr>
          <a:xfrm>
            <a:off x="0" y="12192000"/>
            <a:ext cx="24384000" cy="1524000"/>
          </a:xfrm>
          <a:prstGeom prst="rect">
            <a:avLst/>
          </a:prstGeom>
          <a:solidFill>
            <a:srgbClr val="00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Caption"/>
          <p:cNvSpPr txBox="1"/>
          <p:nvPr/>
        </p:nvSpPr>
        <p:spPr>
          <a:xfrm>
            <a:off x="0" y="12192000"/>
            <a:ext cx="24384000" cy="1524000"/>
          </a:xfrm>
          <a:prstGeom prst="rect">
            <a:avLst/>
          </a:prstGeom>
          <a:noFill/>
        </p:spPr>
        <p:txBody>
          <a:bodyPr wrap="square" anchor="ctr" lIns="0" rIns="0" tIns="0" bIns="0"/>
          <a:lstStyle/>
          <a:p>
            <a:pPr algn="ctr"/>
            <a:r>
              <a:rPr sz="5400" b="0" i="0">
                <a:solidFill>
                  <a:srgbClr val="FFFFFF"/>
                </a:solidFill>
                <a:latin typeface="Noteworthy"/>
              </a:rPr>
              <a:t>Caption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art-full.png"/>
          <p:cNvPicPr>
            <a:picLocks noGrp="1" noChangeAspect="1"/>
          </p:cNvPicPr>
          <p:nvPr>
            <p:ph type="pic" idx="10" sz="quarter"/>
          </p:nvPr>
        </p:nvPicPr>
        <p:blipFill>
          <a:blip r:embed="rId2"/>
          <a:srcRect/>
          <a:stretch>
            <a:fillRect/>
          </a:stretch>
        </p:blipFill>
        <p:spPr/>
      </p:pic>
      <p:sp>
        <p:nvSpPr>
          <p:cNvPr id="3" name="Rectangle 2"/>
          <p:cNvSpPr/>
          <p:nvPr/>
        </p:nvSpPr>
        <p:spPr>
          <a:xfrm>
            <a:off x="0" y="12192000"/>
            <a:ext cx="24384000" cy="1524000"/>
          </a:xfrm>
          <a:prstGeom prst="rect">
            <a:avLst/>
          </a:prstGeom>
          <a:solidFill>
            <a:srgbClr val="00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Caption"/>
          <p:cNvSpPr txBox="1"/>
          <p:nvPr/>
        </p:nvSpPr>
        <p:spPr>
          <a:xfrm>
            <a:off x="0" y="12192000"/>
            <a:ext cx="24384000" cy="1524000"/>
          </a:xfrm>
          <a:prstGeom prst="rect">
            <a:avLst/>
          </a:prstGeom>
          <a:noFill/>
        </p:spPr>
        <p:txBody>
          <a:bodyPr wrap="square" anchor="ctr" lIns="0" rIns="0" tIns="0" bIns="0"/>
          <a:lstStyle/>
          <a:p>
            <a:pPr algn="ctr"/>
            <a:r>
              <a:rPr sz="5400" b="0" i="0">
                <a:solidFill>
                  <a:srgbClr val="FFFFFF"/>
                </a:solidFill>
                <a:latin typeface="Noteworthy"/>
              </a:rPr>
              <a:t>Caption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art-full.png"/>
          <p:cNvPicPr>
            <a:picLocks noGrp="1" noChangeAspect="1"/>
          </p:cNvPicPr>
          <p:nvPr>
            <p:ph type="pic" idx="10" sz="quarter"/>
          </p:nvPr>
        </p:nvPicPr>
        <p:blipFill>
          <a:blip r:embed="rId2"/>
          <a:srcRect/>
          <a:stretch>
            <a:fillRect/>
          </a:stretch>
        </p:blipFill>
        <p:spPr/>
      </p:pic>
      <p:sp>
        <p:nvSpPr>
          <p:cNvPr id="3" name="Rectangle 2"/>
          <p:cNvSpPr/>
          <p:nvPr/>
        </p:nvSpPr>
        <p:spPr>
          <a:xfrm>
            <a:off x="0" y="12192000"/>
            <a:ext cx="24384000" cy="1524000"/>
          </a:xfrm>
          <a:prstGeom prst="rect">
            <a:avLst/>
          </a:prstGeom>
          <a:solidFill>
            <a:srgbClr val="00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Caption"/>
          <p:cNvSpPr txBox="1"/>
          <p:nvPr/>
        </p:nvSpPr>
        <p:spPr>
          <a:xfrm>
            <a:off x="0" y="12192000"/>
            <a:ext cx="24384000" cy="1524000"/>
          </a:xfrm>
          <a:prstGeom prst="rect">
            <a:avLst/>
          </a:prstGeom>
          <a:noFill/>
        </p:spPr>
        <p:txBody>
          <a:bodyPr wrap="square" anchor="ctr" lIns="0" rIns="0" tIns="0" bIns="0"/>
          <a:lstStyle/>
          <a:p>
            <a:pPr algn="ctr"/>
            <a:r>
              <a:rPr sz="5400" b="0" i="0">
                <a:solidFill>
                  <a:srgbClr val="FFFFFF"/>
                </a:solidFill>
                <a:latin typeface="Noteworthy"/>
              </a:rPr>
              <a:t>Caption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art-full.png"/>
          <p:cNvPicPr>
            <a:picLocks noGrp="1" noChangeAspect="1"/>
          </p:cNvPicPr>
          <p:nvPr>
            <p:ph type="pic" idx="10" sz="quarter"/>
          </p:nvPr>
        </p:nvPicPr>
        <p:blipFill>
          <a:blip r:embed="rId2"/>
          <a:srcRect/>
          <a:stretch>
            <a:fillRect/>
          </a:stretch>
        </p:blipFill>
        <p:spPr/>
      </p:pic>
      <p:sp>
        <p:nvSpPr>
          <p:cNvPr id="3" name="Rectangle 2"/>
          <p:cNvSpPr/>
          <p:nvPr/>
        </p:nvSpPr>
        <p:spPr>
          <a:xfrm>
            <a:off x="0" y="12192000"/>
            <a:ext cx="24384000" cy="1524000"/>
          </a:xfrm>
          <a:prstGeom prst="rect">
            <a:avLst/>
          </a:prstGeom>
          <a:solidFill>
            <a:srgbClr val="00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Caption"/>
          <p:cNvSpPr txBox="1"/>
          <p:nvPr/>
        </p:nvSpPr>
        <p:spPr>
          <a:xfrm>
            <a:off x="0" y="12192000"/>
            <a:ext cx="24384000" cy="1524000"/>
          </a:xfrm>
          <a:prstGeom prst="rect">
            <a:avLst/>
          </a:prstGeom>
          <a:noFill/>
        </p:spPr>
        <p:txBody>
          <a:bodyPr wrap="square" anchor="ctr" lIns="0" rIns="0" tIns="0" bIns="0"/>
          <a:lstStyle/>
          <a:p>
            <a:pPr algn="ctr"/>
            <a:r>
              <a:rPr sz="5400" b="0" i="0">
                <a:solidFill>
                  <a:srgbClr val="FFFFFF"/>
                </a:solidFill>
                <a:latin typeface="Noteworthy"/>
              </a:rPr>
              <a:t>Caption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art-full.png"/>
          <p:cNvPicPr>
            <a:picLocks noGrp="1" noChangeAspect="1"/>
          </p:cNvPicPr>
          <p:nvPr>
            <p:ph type="pic" idx="10" sz="quarter"/>
          </p:nvPr>
        </p:nvPicPr>
        <p:blipFill>
          <a:blip r:embed="rId2"/>
          <a:srcRect/>
          <a:stretch>
            <a:fillRect/>
          </a:stretch>
        </p:blipFill>
        <p:spPr/>
      </p:pic>
      <p:sp>
        <p:nvSpPr>
          <p:cNvPr id="3" name="Rectangle 2"/>
          <p:cNvSpPr/>
          <p:nvPr/>
        </p:nvSpPr>
        <p:spPr>
          <a:xfrm>
            <a:off x="0" y="12192000"/>
            <a:ext cx="24384000" cy="1524000"/>
          </a:xfrm>
          <a:prstGeom prst="rect">
            <a:avLst/>
          </a:prstGeom>
          <a:solidFill>
            <a:srgbClr val="00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Caption"/>
          <p:cNvSpPr txBox="1"/>
          <p:nvPr/>
        </p:nvSpPr>
        <p:spPr>
          <a:xfrm>
            <a:off x="0" y="12192000"/>
            <a:ext cx="24384000" cy="1524000"/>
          </a:xfrm>
          <a:prstGeom prst="rect">
            <a:avLst/>
          </a:prstGeom>
          <a:noFill/>
        </p:spPr>
        <p:txBody>
          <a:bodyPr wrap="square" anchor="ctr" lIns="0" rIns="0" tIns="0" bIns="0"/>
          <a:lstStyle/>
          <a:p>
            <a:pPr algn="ctr"/>
            <a:r>
              <a:rPr sz="5400" b="0" i="0">
                <a:solidFill>
                  <a:srgbClr val="FFFFFF"/>
                </a:solidFill>
                <a:latin typeface="Noteworthy"/>
              </a:rPr>
              <a:t>Caption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art-half.png"/>
          <p:cNvPicPr>
            <a:picLocks noGrp="1" noChangeAspect="1"/>
          </p:cNvPicPr>
          <p:nvPr>
            <p:ph type="pic" idx="10" sz="quarter"/>
          </p:nvPr>
        </p:nvPicPr>
        <p:blipFill>
          <a:blip r:embed="rId2"/>
          <a:srcRect/>
          <a:stretch>
            <a:fillRect/>
          </a:stretch>
        </p:blipFill>
        <p:spPr/>
      </p:pic>
      <p:pic>
        <p:nvPicPr>
          <p:cNvPr id="3" name="Picture Placeholder 2" descr="art-half.png"/>
          <p:cNvPicPr>
            <a:picLocks noGrp="1" noChangeAspect="1"/>
          </p:cNvPicPr>
          <p:nvPr>
            <p:ph type="pic" idx="11" sz="quarter"/>
          </p:nvPr>
        </p:nvPicPr>
        <p:blipFill>
          <a:blip r:embed="rId2"/>
          <a:srcRect/>
          <a:stretch>
            <a:fillRect/>
          </a:stretch>
        </p:blipFill>
        <p:spPr/>
      </p:pic>
      <p:sp>
        <p:nvSpPr>
          <p:cNvPr id="4" name="Rectangle 3"/>
          <p:cNvSpPr/>
          <p:nvPr/>
        </p:nvSpPr>
        <p:spPr>
          <a:xfrm>
            <a:off x="0" y="12192000"/>
            <a:ext cx="12192000" cy="1524000"/>
          </a:xfrm>
          <a:prstGeom prst="rect">
            <a:avLst/>
          </a:prstGeom>
          <a:solidFill>
            <a:srgbClr val="00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Caption"/>
          <p:cNvSpPr txBox="1"/>
          <p:nvPr/>
        </p:nvSpPr>
        <p:spPr>
          <a:xfrm>
            <a:off x="0" y="12192000"/>
            <a:ext cx="12192000" cy="1524000"/>
          </a:xfrm>
          <a:prstGeom prst="rect">
            <a:avLst/>
          </a:prstGeom>
          <a:noFill/>
        </p:spPr>
        <p:txBody>
          <a:bodyPr wrap="square" anchor="ctr" lIns="0" rIns="0" tIns="0" bIns="0"/>
          <a:lstStyle/>
          <a:p>
            <a:pPr algn="ctr"/>
            <a:r>
              <a:rPr sz="5400" b="0" i="0">
                <a:solidFill>
                  <a:srgbClr val="FFFFFF"/>
                </a:solidFill>
                <a:latin typeface="Noteworthy"/>
              </a:rPr>
              <a:t>Caption</a:t>
            </a:r>
          </a:p>
        </p:txBody>
      </p:sp>
      <p:sp>
        <p:nvSpPr>
          <p:cNvPr id="6" name="Rectangle 5"/>
          <p:cNvSpPr/>
          <p:nvPr/>
        </p:nvSpPr>
        <p:spPr>
          <a:xfrm>
            <a:off x="12192000" y="12192000"/>
            <a:ext cx="12192000" cy="1524000"/>
          </a:xfrm>
          <a:prstGeom prst="rect">
            <a:avLst/>
          </a:prstGeom>
          <a:solidFill>
            <a:srgbClr val="00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Caption"/>
          <p:cNvSpPr txBox="1"/>
          <p:nvPr/>
        </p:nvSpPr>
        <p:spPr>
          <a:xfrm>
            <a:off x="12192000" y="12192000"/>
            <a:ext cx="12192000" cy="1524000"/>
          </a:xfrm>
          <a:prstGeom prst="rect">
            <a:avLst/>
          </a:prstGeom>
          <a:noFill/>
        </p:spPr>
        <p:txBody>
          <a:bodyPr wrap="square" anchor="ctr" lIns="0" rIns="0" tIns="0" bIns="0"/>
          <a:lstStyle/>
          <a:p>
            <a:pPr algn="ctr"/>
            <a:r>
              <a:rPr sz="5400" b="0" i="0">
                <a:solidFill>
                  <a:srgbClr val="FFFFFF"/>
                </a:solidFill>
                <a:latin typeface="Noteworthy"/>
              </a:rPr>
              <a:t>Caption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art-half.png"/>
          <p:cNvPicPr>
            <a:picLocks noGrp="1" noChangeAspect="1"/>
          </p:cNvPicPr>
          <p:nvPr>
            <p:ph type="pic" idx="10" sz="quarter"/>
          </p:nvPr>
        </p:nvPicPr>
        <p:blipFill>
          <a:blip r:embed="rId2"/>
          <a:srcRect/>
          <a:stretch>
            <a:fillRect/>
          </a:stretch>
        </p:blipFill>
        <p:spPr/>
      </p:pic>
      <p:pic>
        <p:nvPicPr>
          <p:cNvPr id="3" name="Picture Placeholder 2" descr="art-half.png"/>
          <p:cNvPicPr>
            <a:picLocks noGrp="1" noChangeAspect="1"/>
          </p:cNvPicPr>
          <p:nvPr>
            <p:ph type="pic" idx="11" sz="quarter"/>
          </p:nvPr>
        </p:nvPicPr>
        <p:blipFill>
          <a:blip r:embed="rId2"/>
          <a:srcRect/>
          <a:stretch>
            <a:fillRect/>
          </a:stretch>
        </p:blipFill>
        <p:spPr/>
      </p:pic>
      <p:sp>
        <p:nvSpPr>
          <p:cNvPr id="4" name="Rectangle 3"/>
          <p:cNvSpPr/>
          <p:nvPr/>
        </p:nvSpPr>
        <p:spPr>
          <a:xfrm>
            <a:off x="0" y="12192000"/>
            <a:ext cx="12192000" cy="1524000"/>
          </a:xfrm>
          <a:prstGeom prst="rect">
            <a:avLst/>
          </a:prstGeom>
          <a:solidFill>
            <a:srgbClr val="00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Caption"/>
          <p:cNvSpPr txBox="1"/>
          <p:nvPr/>
        </p:nvSpPr>
        <p:spPr>
          <a:xfrm>
            <a:off x="0" y="12192000"/>
            <a:ext cx="12192000" cy="1524000"/>
          </a:xfrm>
          <a:prstGeom prst="rect">
            <a:avLst/>
          </a:prstGeom>
          <a:noFill/>
        </p:spPr>
        <p:txBody>
          <a:bodyPr wrap="square" anchor="ctr" lIns="0" rIns="0" tIns="0" bIns="0"/>
          <a:lstStyle/>
          <a:p>
            <a:pPr algn="ctr"/>
            <a:r>
              <a:rPr sz="5400" b="0" i="0">
                <a:solidFill>
                  <a:srgbClr val="FFFFFF"/>
                </a:solidFill>
                <a:latin typeface="Noteworthy"/>
              </a:rPr>
              <a:t>Caption</a:t>
            </a:r>
          </a:p>
        </p:txBody>
      </p:sp>
      <p:sp>
        <p:nvSpPr>
          <p:cNvPr id="6" name="Rectangle 5"/>
          <p:cNvSpPr/>
          <p:nvPr/>
        </p:nvSpPr>
        <p:spPr>
          <a:xfrm>
            <a:off x="12192000" y="12192000"/>
            <a:ext cx="12192000" cy="1524000"/>
          </a:xfrm>
          <a:prstGeom prst="rect">
            <a:avLst/>
          </a:prstGeom>
          <a:solidFill>
            <a:srgbClr val="00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Caption"/>
          <p:cNvSpPr txBox="1"/>
          <p:nvPr/>
        </p:nvSpPr>
        <p:spPr>
          <a:xfrm>
            <a:off x="12192000" y="12192000"/>
            <a:ext cx="12192000" cy="1524000"/>
          </a:xfrm>
          <a:prstGeom prst="rect">
            <a:avLst/>
          </a:prstGeom>
          <a:noFill/>
        </p:spPr>
        <p:txBody>
          <a:bodyPr wrap="square" anchor="ctr" lIns="0" rIns="0" tIns="0" bIns="0"/>
          <a:lstStyle/>
          <a:p>
            <a:pPr algn="ctr"/>
            <a:r>
              <a:rPr sz="5400" b="0" i="0">
                <a:solidFill>
                  <a:srgbClr val="FFFFFF"/>
                </a:solidFill>
                <a:latin typeface="Noteworthy"/>
              </a:rPr>
              <a:t>Caption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art-half.png"/>
          <p:cNvPicPr>
            <a:picLocks noGrp="1" noChangeAspect="1"/>
          </p:cNvPicPr>
          <p:nvPr>
            <p:ph type="pic" idx="10" sz="quarter"/>
          </p:nvPr>
        </p:nvPicPr>
        <p:blipFill>
          <a:blip r:embed="rId2"/>
          <a:srcRect/>
          <a:stretch>
            <a:fillRect/>
          </a:stretch>
        </p:blipFill>
        <p:spPr/>
      </p:pic>
      <p:pic>
        <p:nvPicPr>
          <p:cNvPr id="3" name="Picture Placeholder 2" descr="art-half.png"/>
          <p:cNvPicPr>
            <a:picLocks noGrp="1" noChangeAspect="1"/>
          </p:cNvPicPr>
          <p:nvPr>
            <p:ph type="pic" idx="11" sz="quarter"/>
          </p:nvPr>
        </p:nvPicPr>
        <p:blipFill>
          <a:blip r:embed="rId2"/>
          <a:srcRect/>
          <a:stretch>
            <a:fillRect/>
          </a:stretch>
        </p:blipFill>
        <p:spPr/>
      </p:pic>
      <p:sp>
        <p:nvSpPr>
          <p:cNvPr id="4" name="Rectangle 3"/>
          <p:cNvSpPr/>
          <p:nvPr/>
        </p:nvSpPr>
        <p:spPr>
          <a:xfrm>
            <a:off x="0" y="12192000"/>
            <a:ext cx="12192000" cy="1524000"/>
          </a:xfrm>
          <a:prstGeom prst="rect">
            <a:avLst/>
          </a:prstGeom>
          <a:solidFill>
            <a:srgbClr val="00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Caption"/>
          <p:cNvSpPr txBox="1"/>
          <p:nvPr/>
        </p:nvSpPr>
        <p:spPr>
          <a:xfrm>
            <a:off x="0" y="12192000"/>
            <a:ext cx="12192000" cy="1524000"/>
          </a:xfrm>
          <a:prstGeom prst="rect">
            <a:avLst/>
          </a:prstGeom>
          <a:noFill/>
        </p:spPr>
        <p:txBody>
          <a:bodyPr wrap="square" anchor="ctr" lIns="0" rIns="0" tIns="0" bIns="0"/>
          <a:lstStyle/>
          <a:p>
            <a:pPr algn="ctr"/>
            <a:r>
              <a:rPr sz="5400" b="0" i="0">
                <a:solidFill>
                  <a:srgbClr val="FFFFFF"/>
                </a:solidFill>
                <a:latin typeface="Noteworthy"/>
              </a:rPr>
              <a:t>Caption</a:t>
            </a:r>
          </a:p>
        </p:txBody>
      </p:sp>
      <p:sp>
        <p:nvSpPr>
          <p:cNvPr id="6" name="Rectangle 5"/>
          <p:cNvSpPr/>
          <p:nvPr/>
        </p:nvSpPr>
        <p:spPr>
          <a:xfrm>
            <a:off x="12192000" y="12192000"/>
            <a:ext cx="12192000" cy="1524000"/>
          </a:xfrm>
          <a:prstGeom prst="rect">
            <a:avLst/>
          </a:prstGeom>
          <a:solidFill>
            <a:srgbClr val="00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Caption"/>
          <p:cNvSpPr txBox="1"/>
          <p:nvPr/>
        </p:nvSpPr>
        <p:spPr>
          <a:xfrm>
            <a:off x="12192000" y="12192000"/>
            <a:ext cx="12192000" cy="1524000"/>
          </a:xfrm>
          <a:prstGeom prst="rect">
            <a:avLst/>
          </a:prstGeom>
          <a:noFill/>
        </p:spPr>
        <p:txBody>
          <a:bodyPr wrap="square" anchor="ctr" lIns="0" rIns="0" tIns="0" bIns="0"/>
          <a:lstStyle/>
          <a:p>
            <a:pPr algn="ctr"/>
            <a:r>
              <a:rPr sz="5400" b="0" i="0">
                <a:solidFill>
                  <a:srgbClr val="FFFFFF"/>
                </a:solidFill>
                <a:latin typeface="Noteworthy"/>
              </a:rPr>
              <a:t>Caption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art-half.png"/>
          <p:cNvPicPr>
            <a:picLocks noGrp="1" noChangeAspect="1"/>
          </p:cNvPicPr>
          <p:nvPr>
            <p:ph type="pic" idx="10" sz="quarter"/>
          </p:nvPr>
        </p:nvPicPr>
        <p:blipFill>
          <a:blip r:embed="rId2"/>
          <a:srcRect/>
          <a:stretch>
            <a:fillRect/>
          </a:stretch>
        </p:blipFill>
        <p:spPr/>
      </p:pic>
      <p:pic>
        <p:nvPicPr>
          <p:cNvPr id="3" name="Picture Placeholder 2" descr="art-half.png"/>
          <p:cNvPicPr>
            <a:picLocks noGrp="1" noChangeAspect="1"/>
          </p:cNvPicPr>
          <p:nvPr>
            <p:ph type="pic" idx="11" sz="quarter"/>
          </p:nvPr>
        </p:nvPicPr>
        <p:blipFill>
          <a:blip r:embed="rId2"/>
          <a:srcRect/>
          <a:stretch>
            <a:fillRect/>
          </a:stretch>
        </p:blipFill>
        <p:spPr/>
      </p:pic>
      <p:sp>
        <p:nvSpPr>
          <p:cNvPr id="4" name="Rectangle 3"/>
          <p:cNvSpPr/>
          <p:nvPr/>
        </p:nvSpPr>
        <p:spPr>
          <a:xfrm>
            <a:off x="0" y="12192000"/>
            <a:ext cx="12192000" cy="1524000"/>
          </a:xfrm>
          <a:prstGeom prst="rect">
            <a:avLst/>
          </a:prstGeom>
          <a:solidFill>
            <a:srgbClr val="00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Caption"/>
          <p:cNvSpPr txBox="1"/>
          <p:nvPr/>
        </p:nvSpPr>
        <p:spPr>
          <a:xfrm>
            <a:off x="0" y="12192000"/>
            <a:ext cx="12192000" cy="1524000"/>
          </a:xfrm>
          <a:prstGeom prst="rect">
            <a:avLst/>
          </a:prstGeom>
          <a:noFill/>
        </p:spPr>
        <p:txBody>
          <a:bodyPr wrap="square" anchor="ctr" lIns="0" rIns="0" tIns="0" bIns="0"/>
          <a:lstStyle/>
          <a:p>
            <a:pPr algn="ctr"/>
            <a:r>
              <a:rPr sz="5400" b="0" i="0">
                <a:solidFill>
                  <a:srgbClr val="FFFFFF"/>
                </a:solidFill>
                <a:latin typeface="Noteworthy"/>
              </a:rPr>
              <a:t>Caption</a:t>
            </a:r>
          </a:p>
        </p:txBody>
      </p:sp>
      <p:sp>
        <p:nvSpPr>
          <p:cNvPr id="6" name="Rectangle 5"/>
          <p:cNvSpPr/>
          <p:nvPr/>
        </p:nvSpPr>
        <p:spPr>
          <a:xfrm>
            <a:off x="12192000" y="12192000"/>
            <a:ext cx="12192000" cy="1524000"/>
          </a:xfrm>
          <a:prstGeom prst="rect">
            <a:avLst/>
          </a:prstGeom>
          <a:solidFill>
            <a:srgbClr val="00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Caption"/>
          <p:cNvSpPr txBox="1"/>
          <p:nvPr/>
        </p:nvSpPr>
        <p:spPr>
          <a:xfrm>
            <a:off x="12192000" y="12192000"/>
            <a:ext cx="12192000" cy="1524000"/>
          </a:xfrm>
          <a:prstGeom prst="rect">
            <a:avLst/>
          </a:prstGeom>
          <a:noFill/>
        </p:spPr>
        <p:txBody>
          <a:bodyPr wrap="square" anchor="ctr" lIns="0" rIns="0" tIns="0" bIns="0"/>
          <a:lstStyle/>
          <a:p>
            <a:pPr algn="ctr"/>
            <a:r>
              <a:rPr sz="5400" b="0" i="0">
                <a:solidFill>
                  <a:srgbClr val="FFFFFF"/>
                </a:solidFill>
                <a:latin typeface="Noteworthy"/>
              </a:rPr>
              <a:t>Caption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art-half.png"/>
          <p:cNvPicPr>
            <a:picLocks noGrp="1" noChangeAspect="1"/>
          </p:cNvPicPr>
          <p:nvPr>
            <p:ph type="pic" idx="10" sz="quarter"/>
          </p:nvPr>
        </p:nvPicPr>
        <p:blipFill>
          <a:blip r:embed="rId2"/>
          <a:srcRect/>
          <a:stretch>
            <a:fillRect/>
          </a:stretch>
        </p:blipFill>
        <p:spPr/>
      </p:pic>
      <p:pic>
        <p:nvPicPr>
          <p:cNvPr id="3" name="Picture Placeholder 2" descr="art-half.png"/>
          <p:cNvPicPr>
            <a:picLocks noGrp="1" noChangeAspect="1"/>
          </p:cNvPicPr>
          <p:nvPr>
            <p:ph type="pic" idx="11" sz="quarter"/>
          </p:nvPr>
        </p:nvPicPr>
        <p:blipFill>
          <a:blip r:embed="rId2"/>
          <a:srcRect/>
          <a:stretch>
            <a:fillRect/>
          </a:stretch>
        </p:blipFill>
        <p:spPr/>
      </p:pic>
      <p:sp>
        <p:nvSpPr>
          <p:cNvPr id="4" name="Rectangle 3"/>
          <p:cNvSpPr/>
          <p:nvPr/>
        </p:nvSpPr>
        <p:spPr>
          <a:xfrm>
            <a:off x="0" y="12192000"/>
            <a:ext cx="12192000" cy="1524000"/>
          </a:xfrm>
          <a:prstGeom prst="rect">
            <a:avLst/>
          </a:prstGeom>
          <a:solidFill>
            <a:srgbClr val="00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Caption"/>
          <p:cNvSpPr txBox="1"/>
          <p:nvPr/>
        </p:nvSpPr>
        <p:spPr>
          <a:xfrm>
            <a:off x="0" y="12192000"/>
            <a:ext cx="12192000" cy="1524000"/>
          </a:xfrm>
          <a:prstGeom prst="rect">
            <a:avLst/>
          </a:prstGeom>
          <a:noFill/>
        </p:spPr>
        <p:txBody>
          <a:bodyPr wrap="square" anchor="ctr" lIns="0" rIns="0" tIns="0" bIns="0"/>
          <a:lstStyle/>
          <a:p>
            <a:pPr algn="ctr"/>
            <a:r>
              <a:rPr sz="5400" b="0" i="0">
                <a:solidFill>
                  <a:srgbClr val="FFFFFF"/>
                </a:solidFill>
                <a:latin typeface="Noteworthy"/>
              </a:rPr>
              <a:t>Caption</a:t>
            </a:r>
          </a:p>
        </p:txBody>
      </p:sp>
      <p:sp>
        <p:nvSpPr>
          <p:cNvPr id="6" name="Rectangle 5"/>
          <p:cNvSpPr/>
          <p:nvPr/>
        </p:nvSpPr>
        <p:spPr>
          <a:xfrm>
            <a:off x="12192000" y="12192000"/>
            <a:ext cx="12192000" cy="1524000"/>
          </a:xfrm>
          <a:prstGeom prst="rect">
            <a:avLst/>
          </a:prstGeom>
          <a:solidFill>
            <a:srgbClr val="00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Caption"/>
          <p:cNvSpPr txBox="1"/>
          <p:nvPr/>
        </p:nvSpPr>
        <p:spPr>
          <a:xfrm>
            <a:off x="12192000" y="12192000"/>
            <a:ext cx="12192000" cy="1524000"/>
          </a:xfrm>
          <a:prstGeom prst="rect">
            <a:avLst/>
          </a:prstGeom>
          <a:noFill/>
        </p:spPr>
        <p:txBody>
          <a:bodyPr wrap="square" anchor="ctr" lIns="0" rIns="0" tIns="0" bIns="0"/>
          <a:lstStyle/>
          <a:p>
            <a:pPr algn="ctr"/>
            <a:r>
              <a:rPr sz="5400" b="0" i="0">
                <a:solidFill>
                  <a:srgbClr val="FFFFFF"/>
                </a:solidFill>
                <a:latin typeface="Noteworthy"/>
              </a:rPr>
              <a:t>Caption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art-half.png"/>
          <p:cNvPicPr>
            <a:picLocks noGrp="1" noChangeAspect="1"/>
          </p:cNvPicPr>
          <p:nvPr>
            <p:ph type="pic" idx="10" sz="quarter"/>
          </p:nvPr>
        </p:nvPicPr>
        <p:blipFill>
          <a:blip r:embed="rId2"/>
          <a:srcRect/>
          <a:stretch>
            <a:fillRect/>
          </a:stretch>
        </p:blipFill>
        <p:spPr/>
      </p:pic>
      <p:pic>
        <p:nvPicPr>
          <p:cNvPr id="3" name="Picture Placeholder 2" descr="art-half.png"/>
          <p:cNvPicPr>
            <a:picLocks noGrp="1" noChangeAspect="1"/>
          </p:cNvPicPr>
          <p:nvPr>
            <p:ph type="pic" idx="11" sz="quarter"/>
          </p:nvPr>
        </p:nvPicPr>
        <p:blipFill>
          <a:blip r:embed="rId2"/>
          <a:srcRect/>
          <a:stretch>
            <a:fillRect/>
          </a:stretch>
        </p:blipFill>
        <p:spPr/>
      </p:pic>
      <p:sp>
        <p:nvSpPr>
          <p:cNvPr id="4" name="Rectangle 3"/>
          <p:cNvSpPr/>
          <p:nvPr/>
        </p:nvSpPr>
        <p:spPr>
          <a:xfrm>
            <a:off x="0" y="12192000"/>
            <a:ext cx="12192000" cy="1524000"/>
          </a:xfrm>
          <a:prstGeom prst="rect">
            <a:avLst/>
          </a:prstGeom>
          <a:solidFill>
            <a:srgbClr val="00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Caption"/>
          <p:cNvSpPr txBox="1"/>
          <p:nvPr/>
        </p:nvSpPr>
        <p:spPr>
          <a:xfrm>
            <a:off x="0" y="12192000"/>
            <a:ext cx="12192000" cy="1524000"/>
          </a:xfrm>
          <a:prstGeom prst="rect">
            <a:avLst/>
          </a:prstGeom>
          <a:noFill/>
        </p:spPr>
        <p:txBody>
          <a:bodyPr wrap="square" anchor="ctr" lIns="0" rIns="0" tIns="0" bIns="0"/>
          <a:lstStyle/>
          <a:p>
            <a:pPr algn="ctr"/>
            <a:r>
              <a:rPr sz="5400" b="0" i="0">
                <a:solidFill>
                  <a:srgbClr val="FFFFFF"/>
                </a:solidFill>
                <a:latin typeface="Noteworthy"/>
              </a:rPr>
              <a:t>Caption</a:t>
            </a:r>
          </a:p>
        </p:txBody>
      </p:sp>
      <p:sp>
        <p:nvSpPr>
          <p:cNvPr id="6" name="Rectangle 5"/>
          <p:cNvSpPr/>
          <p:nvPr/>
        </p:nvSpPr>
        <p:spPr>
          <a:xfrm>
            <a:off x="12192000" y="12192000"/>
            <a:ext cx="12192000" cy="1524000"/>
          </a:xfrm>
          <a:prstGeom prst="rect">
            <a:avLst/>
          </a:prstGeom>
          <a:solidFill>
            <a:srgbClr val="00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Caption"/>
          <p:cNvSpPr txBox="1"/>
          <p:nvPr/>
        </p:nvSpPr>
        <p:spPr>
          <a:xfrm>
            <a:off x="12192000" y="12192000"/>
            <a:ext cx="12192000" cy="1524000"/>
          </a:xfrm>
          <a:prstGeom prst="rect">
            <a:avLst/>
          </a:prstGeom>
          <a:noFill/>
        </p:spPr>
        <p:txBody>
          <a:bodyPr wrap="square" anchor="ctr" lIns="0" rIns="0" tIns="0" bIns="0"/>
          <a:lstStyle/>
          <a:p>
            <a:pPr algn="ctr"/>
            <a:r>
              <a:rPr sz="5400" b="0" i="0">
                <a:solidFill>
                  <a:srgbClr val="FFFFFF"/>
                </a:solidFill>
                <a:latin typeface="Noteworthy"/>
              </a:rPr>
              <a:t>Caption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art-half.png"/>
          <p:cNvPicPr>
            <a:picLocks noGrp="1" noChangeAspect="1"/>
          </p:cNvPicPr>
          <p:nvPr>
            <p:ph type="pic" idx="10" sz="quarter"/>
          </p:nvPr>
        </p:nvPicPr>
        <p:blipFill>
          <a:blip r:embed="rId2"/>
          <a:srcRect/>
          <a:stretch>
            <a:fillRect/>
          </a:stretch>
        </p:blipFill>
        <p:spPr/>
      </p:pic>
      <p:sp>
        <p:nvSpPr>
          <p:cNvPr id="3" name="Rectangle 2"/>
          <p:cNvSpPr/>
          <p:nvPr/>
        </p:nvSpPr>
        <p:spPr>
          <a:xfrm>
            <a:off x="0" y="12192000"/>
            <a:ext cx="12192000" cy="1524000"/>
          </a:xfrm>
          <a:prstGeom prst="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Caption"/>
          <p:cNvSpPr txBox="1"/>
          <p:nvPr/>
        </p:nvSpPr>
        <p:spPr>
          <a:xfrm>
            <a:off x="0" y="12192000"/>
            <a:ext cx="12192000" cy="1524000"/>
          </a:xfrm>
          <a:prstGeom prst="rect">
            <a:avLst/>
          </a:prstGeom>
          <a:noFill/>
        </p:spPr>
        <p:txBody>
          <a:bodyPr wrap="square" anchor="ctr" lIns="0" rIns="0" tIns="0" bIns="0"/>
          <a:lstStyle/>
          <a:p>
            <a:pPr algn="ctr"/>
            <a:r>
              <a:rPr sz="5400" b="0" i="0">
                <a:solidFill>
                  <a:srgbClr val="FFFFFF"/>
                </a:solidFill>
                <a:latin typeface="Noteworthy"/>
              </a:rPr>
              <a:t>Tiny Homes in front of [ Cover Page ]</a:t>
            </a:r>
          </a:p>
        </p:txBody>
      </p:sp>
      <p:sp>
        <p:nvSpPr>
          <p:cNvPr id="5" name="Value Added Proposal"/>
          <p:cNvSpPr txBox="1"/>
          <p:nvPr/>
        </p:nvSpPr>
        <p:spPr>
          <a:xfrm>
            <a:off x="13652500" y="1778000"/>
            <a:ext cx="9334500" cy="10414000"/>
          </a:xfrm>
          <a:prstGeom prst="rect">
            <a:avLst/>
          </a:prstGeom>
          <a:noFill/>
        </p:spPr>
        <p:txBody>
          <a:bodyPr wrap="square" anchor="t" lIns="0" rIns="0" tIns="0" bIns="0"/>
          <a:lstStyle/>
          <a:p>
            <a:pPr algn="ctr">
              <a:spcAft>
                <a:spcPts val="2600"/>
              </a:spcAft>
            </a:pPr>
            <a:r>
              <a:rPr sz="4400" b="0" i="0">
                <a:solidFill>
                  <a:srgbClr val="1D1D1F"/>
                </a:solidFill>
                <a:latin typeface="Helvetica Neue"/>
              </a:rPr>
              <a:t>Value Added Proposal</a:t>
            </a:r>
          </a:p>
          <a:p>
            <a:pPr algn="l">
              <a:spcAft>
                <a:spcPts val="2000"/>
              </a:spcAft>
            </a:pPr>
            <a:r>
              <a:rPr sz="2300" b="0" i="0">
                <a:solidFill>
                  <a:srgbClr val="1D1D1F"/>
                </a:solidFill>
                <a:latin typeface="Helvetica Neue"/>
              </a:rPr>
              <a:t>When selling privately based upon a Mapsite, you handle your own real estate industry adjacent marketing. That enables you to use three distinct angles to show buyers exactly how value added might be generated covering financial and lifestyle motifs:</a:t>
            </a:r>
          </a:p>
          <a:p>
            <a:pPr algn="l">
              <a:spcAft>
                <a:spcPts val="400"/>
              </a:spcAft>
            </a:pPr>
            <a:r>
              <a:rPr sz="2300" b="0" i="0">
                <a:solidFill>
                  <a:srgbClr val="1D1D1F"/>
                </a:solidFill>
                <a:latin typeface="Helvetica Neue"/>
              </a:rPr>
              <a:t>1. Instant Rental Revenue = Passive Income</a:t>
            </a:r>
          </a:p>
          <a:p>
            <a:pPr algn="l" marL="609600" indent="-279400">
              <a:spcAft>
                <a:spcPts val="2000"/>
              </a:spcAft>
            </a:pPr>
            <a:r>
              <a:rPr sz="2300" b="0" i="0">
                <a:solidFill>
                  <a:srgbClr val="1D1D1F"/>
                </a:solidFill>
                <a:latin typeface="Helvetica Neue"/>
              </a:rPr>
              <a:t>•  Tiny Homes are tools to offset financing or a mortgage that operates on roughly 10% of the electricity of a standard house - overhead is incredibly low.</a:t>
            </a:r>
          </a:p>
          <a:p>
            <a:pPr algn="l">
              <a:spcAft>
                <a:spcPts val="400"/>
              </a:spcAft>
            </a:pPr>
            <a:r>
              <a:rPr sz="2300" b="0" i="0">
                <a:solidFill>
                  <a:srgbClr val="1D1D1F"/>
                </a:solidFill>
                <a:latin typeface="Helvetica Neue"/>
              </a:rPr>
              <a:t>2. Multi-Generational Living = Independence</a:t>
            </a:r>
          </a:p>
          <a:p>
            <a:pPr algn="l" marL="609600" indent="-279400">
              <a:spcAft>
                <a:spcPts val="2000"/>
              </a:spcAft>
            </a:pPr>
            <a:r>
              <a:rPr sz="2300" b="0" i="0">
                <a:solidFill>
                  <a:srgbClr val="1D1D1F"/>
                </a:solidFill>
                <a:latin typeface="Helvetica Neue"/>
              </a:rPr>
              <a:t>•  A “bunkhouse” or “mother-in-law suite” means absolute privacy for aging parents or adult children, who might otherwise be priced out of traditional housing markets.</a:t>
            </a:r>
          </a:p>
          <a:p>
            <a:pPr algn="l">
              <a:spcAft>
                <a:spcPts val="400"/>
              </a:spcAft>
            </a:pPr>
            <a:r>
              <a:rPr sz="2300" b="0" i="0">
                <a:solidFill>
                  <a:srgbClr val="1D1D1F"/>
                </a:solidFill>
                <a:latin typeface="Helvetica Neue"/>
              </a:rPr>
              <a:t>3. Remote Work Sanctuaries = Enhanced Work-Life Balance</a:t>
            </a:r>
          </a:p>
          <a:p>
            <a:pPr algn="l" marL="609600" indent="-279400">
              <a:spcAft>
                <a:spcPts val="2400"/>
              </a:spcAft>
            </a:pPr>
            <a:r>
              <a:rPr sz="2300" b="0" i="0">
                <a:solidFill>
                  <a:srgbClr val="1D1D1F"/>
                </a:solidFill>
                <a:latin typeface="Helvetica Neue"/>
              </a:rPr>
              <a:t>•  Detached, professional home offices or creative studios maintain the separation of work and home life without the hassle or cost of a commercial lease.</a:t>
            </a:r>
          </a:p>
          <a:p>
            <a:pPr algn="r"/>
            <a:r>
              <a:rPr sz="2300" b="0" i="0">
                <a:solidFill>
                  <a:srgbClr val="1D1D1F"/>
                </a:solidFill>
                <a:latin typeface="Helvetica Neue"/>
              </a:rPr>
              <a:t>Aisha C.</a:t>
            </a:r>
          </a:p>
          <a:p>
            <a:pPr algn="r"/>
            <a:r>
              <a:rPr sz="1800" b="0" i="0">
                <a:solidFill>
                  <a:srgbClr val="1D1D1F"/>
                </a:solidFill>
                <a:latin typeface="Helvetica Neue"/>
              </a:rPr>
              <a:t>(on behalf of the team)</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g-house.jpg"/>
          <p:cNvPicPr>
            <a:picLocks noGrp="1" noChangeAspect="1"/>
          </p:cNvPicPr>
          <p:nvPr>
            <p:ph type="pic" idx="10" sz="quarter"/>
          </p:nvPr>
        </p:nvPicPr>
        <p:blipFill>
          <a:blip r:embed="rId2"/>
          <a:srcRect/>
          <a:stretch>
            <a:fillRect/>
          </a:stretch>
        </p:blipFill>
        <p:spPr/>
      </p:pic>
      <p:sp>
        <p:nvSpPr>
          <p:cNvPr id="3" name="Rectangle 2"/>
          <p:cNvSpPr/>
          <p:nvPr/>
        </p:nvSpPr>
        <p:spPr>
          <a:xfrm>
            <a:off x="18288000" y="0"/>
            <a:ext cx="6096000" cy="13716000"/>
          </a:xfrm>
          <a:prstGeom prst="rect">
            <a:avLst/>
          </a:prstGeom>
          <a:solidFill>
            <a:srgbClr val="E3E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8288000" y="0"/>
            <a:ext cx="38100" cy="137160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Specs"/>
          <p:cNvSpPr txBox="1"/>
          <p:nvPr/>
        </p:nvSpPr>
        <p:spPr>
          <a:xfrm>
            <a:off x="18796000" y="508000"/>
            <a:ext cx="5080000" cy="12827000"/>
          </a:xfrm>
          <a:prstGeom prst="rect">
            <a:avLst/>
          </a:prstGeom>
          <a:noFill/>
        </p:spPr>
        <p:txBody>
          <a:bodyPr wrap="square" anchor="t" lIns="0" rIns="0" tIns="0" bIns="0"/>
          <a:lstStyle/>
          <a:p>
            <a:pPr algn="ctr">
              <a:spcAft>
                <a:spcPts val="1600"/>
              </a:spcAft>
            </a:pPr>
            <a:r>
              <a:rPr sz="5000" b="0" i="0">
                <a:solidFill>
                  <a:srgbClr val="000000"/>
                </a:solidFill>
                <a:latin typeface="Noteworthy"/>
              </a:rPr>
              <a:t>G-House Specs.</a:t>
            </a:r>
          </a:p>
          <a:p>
            <a:pPr algn="ctr">
              <a:spcBef>
                <a:spcPts val="2400"/>
              </a:spcBef>
            </a:pPr>
            <a:r>
              <a:rPr sz="4400" b="1" i="0">
                <a:solidFill>
                  <a:srgbClr val="0076BA"/>
                </a:solidFill>
                <a:latin typeface="Helvetica Neue"/>
              </a:rPr>
              <a:t>160 or 200 sq.ft.</a:t>
            </a:r>
          </a:p>
          <a:p>
            <a:pPr algn="ctr">
              <a:spcAft>
                <a:spcPts val="400"/>
              </a:spcAft>
            </a:pPr>
            <a:r>
              <a:rPr sz="2000" b="0" i="0">
                <a:solidFill>
                  <a:srgbClr val="1D1D1F"/>
                </a:solidFill>
                <a:latin typeface="Helvetica Neue"/>
              </a:rPr>
              <a:t>includes</a:t>
            </a:r>
          </a:p>
          <a:p>
            <a:pPr algn="ctr"/>
            <a:r>
              <a:rPr sz="4600" b="0" i="0">
                <a:solidFill>
                  <a:srgbClr val="1D1D1F"/>
                </a:solidFill>
                <a:latin typeface="Helvetica Neue"/>
              </a:rPr>
              <a:t>Living Room</a:t>
            </a:r>
          </a:p>
          <a:p>
            <a:pPr algn="ctr"/>
            <a:r>
              <a:rPr sz="4600" b="0" i="0">
                <a:solidFill>
                  <a:srgbClr val="1D1D1F"/>
                </a:solidFill>
                <a:latin typeface="Helvetica Neue"/>
              </a:rPr>
              <a:t>Kitchen</a:t>
            </a:r>
          </a:p>
          <a:p>
            <a:pPr algn="ctr"/>
            <a:r>
              <a:rPr sz="4600" b="0" i="0">
                <a:solidFill>
                  <a:srgbClr val="1D1D1F"/>
                </a:solidFill>
                <a:latin typeface="Helvetica Neue"/>
              </a:rPr>
              <a:t>Bath</a:t>
            </a:r>
          </a:p>
          <a:p>
            <a:pPr algn="l" marL="279400" indent="-279400">
              <a:spcBef>
                <a:spcPts val="600"/>
              </a:spcBef>
            </a:pPr>
            <a:r>
              <a:rPr sz="2100" b="0" i="0">
                <a:solidFill>
                  <a:srgbClr val="1D1D1F"/>
                </a:solidFill>
                <a:latin typeface="Helvetica Neue"/>
              </a:rPr>
              <a:t>•  One, two or three sides glass.</a:t>
            </a:r>
          </a:p>
          <a:p>
            <a:pPr algn="l" marL="279400" indent="-279400">
              <a:spcBef>
                <a:spcPts val="200"/>
              </a:spcBef>
            </a:pPr>
            <a:r>
              <a:rPr sz="2100" b="0" i="0">
                <a:solidFill>
                  <a:srgbClr val="1D1D1F"/>
                </a:solidFill>
                <a:latin typeface="Helvetica Neue"/>
              </a:rPr>
              <a:t>•  Finished inside, but not furnished.</a:t>
            </a:r>
          </a:p>
          <a:p>
            <a:pPr algn="l" marL="279400" indent="-279400">
              <a:spcBef>
                <a:spcPts val="200"/>
              </a:spcBef>
            </a:pPr>
            <a:r>
              <a:rPr sz="2100" b="0" i="0">
                <a:solidFill>
                  <a:srgbClr val="1D1D1F"/>
                </a:solidFill>
                <a:latin typeface="Helvetica Neue"/>
              </a:rPr>
              <a:t>•  Platform not included.</a:t>
            </a:r>
          </a:p>
          <a:p>
            <a:pPr algn="ctr">
              <a:spcBef>
                <a:spcPts val="2200"/>
              </a:spcBef>
              <a:spcAft>
                <a:spcPts val="1800"/>
              </a:spcAft>
            </a:pPr>
            <a:r>
              <a:rPr sz="2800" b="1" i="0">
                <a:solidFill>
                  <a:srgbClr val="0076BA"/>
                </a:solidFill>
                <a:latin typeface="Helvetica Neue"/>
              </a:rPr>
              <a:t>From $100 CAD / sq.ft.</a:t>
            </a:r>
          </a:p>
          <a:p>
            <a:pPr algn="l"/>
            <a:r>
              <a:rPr sz="3200" b="0" i="0">
                <a:solidFill>
                  <a:srgbClr val="1D1D1F"/>
                </a:solidFill>
                <a:latin typeface="Helvetica Neue"/>
              </a:rPr>
              <a:t>Optional services</a:t>
            </a:r>
          </a:p>
          <a:p>
            <a:pPr algn="l">
              <a:spcAft>
                <a:spcPts val="800"/>
              </a:spcAft>
            </a:pPr>
            <a:r>
              <a:rPr sz="1500" b="0" i="0">
                <a:solidFill>
                  <a:srgbClr val="1D1D1F"/>
                </a:solidFill>
                <a:latin typeface="Helvetica Neue"/>
              </a:rPr>
              <a:t>(where available)</a:t>
            </a:r>
          </a:p>
          <a:p>
            <a:pPr algn="l" marL="279400" indent="-279400">
              <a:spcAft>
                <a:spcPts val="300"/>
              </a:spcAft>
            </a:pPr>
            <a:r>
              <a:rPr sz="2200" b="0" i="0">
                <a:solidFill>
                  <a:srgbClr val="1D1D1F"/>
                </a:solidFill>
                <a:latin typeface="Helvetica Neue"/>
              </a:rPr>
              <a:t>•  Driveway</a:t>
            </a:r>
          </a:p>
          <a:p>
            <a:pPr algn="l" marL="279400" indent="-279400">
              <a:spcAft>
                <a:spcPts val="300"/>
              </a:spcAft>
            </a:pPr>
            <a:r>
              <a:rPr sz="2200" b="0" i="0">
                <a:solidFill>
                  <a:srgbClr val="1D1D1F"/>
                </a:solidFill>
                <a:latin typeface="Helvetica Neue"/>
              </a:rPr>
              <a:t>•  Building Site</a:t>
            </a:r>
          </a:p>
          <a:p>
            <a:pPr algn="l" marL="279400" indent="-279400">
              <a:spcAft>
                <a:spcPts val="300"/>
              </a:spcAft>
            </a:pPr>
            <a:r>
              <a:rPr sz="2200" b="0" i="0">
                <a:solidFill>
                  <a:srgbClr val="1D1D1F"/>
                </a:solidFill>
                <a:latin typeface="Helvetica Neue"/>
              </a:rPr>
              <a:t>•  Platform / Foundation</a:t>
            </a:r>
          </a:p>
          <a:p>
            <a:pPr algn="l" marL="279400" indent="-279400">
              <a:spcAft>
                <a:spcPts val="300"/>
              </a:spcAft>
            </a:pPr>
            <a:r>
              <a:rPr sz="2200" b="0" i="0">
                <a:solidFill>
                  <a:srgbClr val="1D1D1F"/>
                </a:solidFill>
                <a:latin typeface="Helvetica Neue"/>
              </a:rPr>
              <a:t>•  Unit Transport &amp; Assembly</a:t>
            </a:r>
          </a:p>
          <a:p>
            <a:pPr algn="l" marL="279400" indent="-279400">
              <a:spcAft>
                <a:spcPts val="300"/>
              </a:spcAft>
            </a:pPr>
            <a:r>
              <a:rPr sz="2200" b="0" i="0">
                <a:solidFill>
                  <a:srgbClr val="1D1D1F"/>
                </a:solidFill>
                <a:latin typeface="Helvetica Neue"/>
              </a:rPr>
              <a:t>•  Water &amp; Disposal Systems</a:t>
            </a:r>
          </a:p>
          <a:p>
            <a:pPr algn="l" marL="279400" indent="-279400">
              <a:spcAft>
                <a:spcPts val="300"/>
              </a:spcAft>
            </a:pPr>
            <a:r>
              <a:rPr sz="2200" b="0" i="0">
                <a:solidFill>
                  <a:srgbClr val="1D1D1F"/>
                </a:solidFill>
                <a:latin typeface="Helvetica Neue"/>
              </a:rPr>
              <a:t>•  Solar &amp; Storage</a:t>
            </a:r>
          </a:p>
          <a:p>
            <a:pPr algn="l" marL="279400" indent="-279400">
              <a:spcAft>
                <a:spcPts val="300"/>
              </a:spcAft>
            </a:pPr>
            <a:r>
              <a:rPr sz="2200" b="0" i="0">
                <a:solidFill>
                  <a:srgbClr val="1D1D1F"/>
                </a:solidFill>
                <a:latin typeface="Helvetica Neue"/>
              </a:rPr>
              <a:t>•  Heating &amp; Cooling</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t-dome.jpg"/>
          <p:cNvPicPr>
            <a:picLocks noGrp="1" noChangeAspect="1"/>
          </p:cNvPicPr>
          <p:nvPr>
            <p:ph type="pic" idx="10" sz="quarter"/>
          </p:nvPr>
        </p:nvPicPr>
        <p:blipFill>
          <a:blip r:embed="rId2"/>
          <a:srcRect/>
          <a:stretch>
            <a:fillRect/>
          </a:stretch>
        </p:blipFill>
        <p:spPr/>
      </p:pic>
      <p:sp>
        <p:nvSpPr>
          <p:cNvPr id="3" name="Rectangle 2"/>
          <p:cNvSpPr/>
          <p:nvPr/>
        </p:nvSpPr>
        <p:spPr>
          <a:xfrm>
            <a:off x="18288000" y="0"/>
            <a:ext cx="6096000" cy="13716000"/>
          </a:xfrm>
          <a:prstGeom prst="rect">
            <a:avLst/>
          </a:prstGeom>
          <a:solidFill>
            <a:srgbClr val="E3E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8288000" y="0"/>
            <a:ext cx="38100" cy="137160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Specs"/>
          <p:cNvSpPr txBox="1"/>
          <p:nvPr/>
        </p:nvSpPr>
        <p:spPr>
          <a:xfrm>
            <a:off x="18796000" y="508000"/>
            <a:ext cx="5080000" cy="12827000"/>
          </a:xfrm>
          <a:prstGeom prst="rect">
            <a:avLst/>
          </a:prstGeom>
          <a:noFill/>
        </p:spPr>
        <p:txBody>
          <a:bodyPr wrap="square" anchor="t" lIns="0" rIns="0" tIns="0" bIns="0"/>
          <a:lstStyle/>
          <a:p>
            <a:pPr algn="ctr">
              <a:spcAft>
                <a:spcPts val="1600"/>
              </a:spcAft>
            </a:pPr>
            <a:r>
              <a:rPr sz="5000" b="0" i="0">
                <a:solidFill>
                  <a:srgbClr val="000000"/>
                </a:solidFill>
                <a:latin typeface="Noteworthy"/>
              </a:rPr>
              <a:t>T-Dome Specs.</a:t>
            </a:r>
          </a:p>
          <a:p>
            <a:pPr algn="ctr">
              <a:spcBef>
                <a:spcPts val="2400"/>
              </a:spcBef>
            </a:pPr>
            <a:r>
              <a:rPr sz="4400" b="1" i="0">
                <a:solidFill>
                  <a:srgbClr val="0076BA"/>
                </a:solidFill>
                <a:latin typeface="Helvetica Neue"/>
              </a:rPr>
              <a:t>305 sq.ft.</a:t>
            </a:r>
          </a:p>
          <a:p>
            <a:pPr algn="ctr">
              <a:spcAft>
                <a:spcPts val="400"/>
              </a:spcAft>
            </a:pPr>
            <a:r>
              <a:rPr sz="2000" b="0" i="0">
                <a:solidFill>
                  <a:srgbClr val="1D1D1F"/>
                </a:solidFill>
                <a:latin typeface="Helvetica Neue"/>
              </a:rPr>
              <a:t>may include</a:t>
            </a:r>
          </a:p>
          <a:p>
            <a:pPr algn="ctr"/>
            <a:r>
              <a:rPr sz="4600" b="0" i="0">
                <a:solidFill>
                  <a:srgbClr val="1D1D1F"/>
                </a:solidFill>
                <a:latin typeface="Helvetica Neue"/>
              </a:rPr>
              <a:t>Living Room</a:t>
            </a:r>
          </a:p>
          <a:p>
            <a:pPr algn="ctr"/>
            <a:r>
              <a:rPr sz="4600" b="0" i="0">
                <a:solidFill>
                  <a:srgbClr val="1D1D1F"/>
                </a:solidFill>
                <a:latin typeface="Helvetica Neue"/>
              </a:rPr>
              <a:t>Efficiency Kitchen</a:t>
            </a:r>
          </a:p>
          <a:p>
            <a:pPr algn="ctr"/>
            <a:r>
              <a:rPr sz="4600" b="0" i="0">
                <a:solidFill>
                  <a:srgbClr val="1D1D1F"/>
                </a:solidFill>
                <a:latin typeface="Helvetica Neue"/>
              </a:rPr>
              <a:t>Luxury Bath</a:t>
            </a:r>
          </a:p>
          <a:p>
            <a:pPr algn="l" marL="279400" indent="-279400">
              <a:spcBef>
                <a:spcPts val="600"/>
              </a:spcBef>
            </a:pPr>
            <a:r>
              <a:rPr sz="2100" b="0" i="0">
                <a:solidFill>
                  <a:srgbClr val="1D1D1F"/>
                </a:solidFill>
                <a:latin typeface="Helvetica Neue"/>
              </a:rPr>
              <a:t>•  Finished inside, but not furnished.</a:t>
            </a:r>
          </a:p>
          <a:p>
            <a:pPr algn="l" marL="279400" indent="-279400">
              <a:spcBef>
                <a:spcPts val="200"/>
              </a:spcBef>
            </a:pPr>
            <a:r>
              <a:rPr sz="2100" b="0" i="0">
                <a:solidFill>
                  <a:srgbClr val="1D1D1F"/>
                </a:solidFill>
                <a:latin typeface="Helvetica Neue"/>
              </a:rPr>
              <a:t>•  Platform not included.</a:t>
            </a:r>
          </a:p>
          <a:p>
            <a:pPr algn="ctr">
              <a:spcBef>
                <a:spcPts val="2200"/>
              </a:spcBef>
              <a:spcAft>
                <a:spcPts val="1800"/>
              </a:spcAft>
            </a:pPr>
            <a:r>
              <a:rPr sz="2800" b="1" i="0">
                <a:solidFill>
                  <a:srgbClr val="0076BA"/>
                </a:solidFill>
                <a:latin typeface="Helvetica Neue"/>
              </a:rPr>
              <a:t>From $150 CAD / sq.ft.</a:t>
            </a:r>
          </a:p>
          <a:p>
            <a:pPr algn="l"/>
            <a:r>
              <a:rPr sz="3200" b="0" i="0">
                <a:solidFill>
                  <a:srgbClr val="1D1D1F"/>
                </a:solidFill>
                <a:latin typeface="Helvetica Neue"/>
              </a:rPr>
              <a:t>Optional services</a:t>
            </a:r>
          </a:p>
          <a:p>
            <a:pPr algn="l">
              <a:spcAft>
                <a:spcPts val="800"/>
              </a:spcAft>
            </a:pPr>
            <a:r>
              <a:rPr sz="1500" b="0" i="0">
                <a:solidFill>
                  <a:srgbClr val="1D1D1F"/>
                </a:solidFill>
                <a:latin typeface="Helvetica Neue"/>
              </a:rPr>
              <a:t>(where available)</a:t>
            </a:r>
          </a:p>
          <a:p>
            <a:pPr algn="l" marL="279400" indent="-279400">
              <a:spcAft>
                <a:spcPts val="300"/>
              </a:spcAft>
            </a:pPr>
            <a:r>
              <a:rPr sz="2200" b="0" i="0">
                <a:solidFill>
                  <a:srgbClr val="1D1D1F"/>
                </a:solidFill>
                <a:latin typeface="Helvetica Neue"/>
              </a:rPr>
              <a:t>•  Driveway</a:t>
            </a:r>
          </a:p>
          <a:p>
            <a:pPr algn="l" marL="279400" indent="-279400">
              <a:spcAft>
                <a:spcPts val="300"/>
              </a:spcAft>
            </a:pPr>
            <a:r>
              <a:rPr sz="2200" b="0" i="0">
                <a:solidFill>
                  <a:srgbClr val="1D1D1F"/>
                </a:solidFill>
                <a:latin typeface="Helvetica Neue"/>
              </a:rPr>
              <a:t>•  Building Site</a:t>
            </a:r>
          </a:p>
          <a:p>
            <a:pPr algn="l" marL="279400" indent="-279400">
              <a:spcAft>
                <a:spcPts val="300"/>
              </a:spcAft>
            </a:pPr>
            <a:r>
              <a:rPr sz="2200" b="0" i="0">
                <a:solidFill>
                  <a:srgbClr val="1D1D1F"/>
                </a:solidFill>
                <a:latin typeface="Helvetica Neue"/>
              </a:rPr>
              <a:t>•  Platform / Foundation</a:t>
            </a:r>
          </a:p>
          <a:p>
            <a:pPr algn="l" marL="279400" indent="-279400">
              <a:spcAft>
                <a:spcPts val="300"/>
              </a:spcAft>
            </a:pPr>
            <a:r>
              <a:rPr sz="2200" b="0" i="0">
                <a:solidFill>
                  <a:srgbClr val="1D1D1F"/>
                </a:solidFill>
                <a:latin typeface="Helvetica Neue"/>
              </a:rPr>
              <a:t>•  Unit Transport &amp; Assembly</a:t>
            </a:r>
          </a:p>
          <a:p>
            <a:pPr algn="l" marL="279400" indent="-279400">
              <a:spcAft>
                <a:spcPts val="300"/>
              </a:spcAft>
            </a:pPr>
            <a:r>
              <a:rPr sz="2200" b="0" i="0">
                <a:solidFill>
                  <a:srgbClr val="1D1D1F"/>
                </a:solidFill>
                <a:latin typeface="Helvetica Neue"/>
              </a:rPr>
              <a:t>•  Water &amp; Disposal Systems</a:t>
            </a:r>
          </a:p>
          <a:p>
            <a:pPr algn="l" marL="279400" indent="-279400">
              <a:spcAft>
                <a:spcPts val="300"/>
              </a:spcAft>
            </a:pPr>
            <a:r>
              <a:rPr sz="2200" b="0" i="0">
                <a:solidFill>
                  <a:srgbClr val="1D1D1F"/>
                </a:solidFill>
                <a:latin typeface="Helvetica Neue"/>
              </a:rPr>
              <a:t>•  Solar &amp; Storage</a:t>
            </a:r>
          </a:p>
          <a:p>
            <a:pPr algn="l" marL="279400" indent="-279400">
              <a:spcAft>
                <a:spcPts val="300"/>
              </a:spcAft>
            </a:pPr>
            <a:r>
              <a:rPr sz="2200" b="0" i="0">
                <a:solidFill>
                  <a:srgbClr val="1D1D1F"/>
                </a:solidFill>
                <a:latin typeface="Helvetica Neue"/>
              </a:rPr>
              <a:t>•  Heating &amp; Cooling</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t-house.jpg"/>
          <p:cNvPicPr>
            <a:picLocks noGrp="1" noChangeAspect="1"/>
          </p:cNvPicPr>
          <p:nvPr>
            <p:ph type="pic" idx="10" sz="quarter"/>
          </p:nvPr>
        </p:nvPicPr>
        <p:blipFill>
          <a:blip r:embed="rId2"/>
          <a:srcRect/>
          <a:stretch>
            <a:fillRect/>
          </a:stretch>
        </p:blipFill>
        <p:spPr/>
      </p:pic>
      <p:sp>
        <p:nvSpPr>
          <p:cNvPr id="3" name="Rectangle 2"/>
          <p:cNvSpPr/>
          <p:nvPr/>
        </p:nvSpPr>
        <p:spPr>
          <a:xfrm>
            <a:off x="18288000" y="0"/>
            <a:ext cx="6096000" cy="13716000"/>
          </a:xfrm>
          <a:prstGeom prst="rect">
            <a:avLst/>
          </a:prstGeom>
          <a:solidFill>
            <a:srgbClr val="E3E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8288000" y="0"/>
            <a:ext cx="38100" cy="137160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Specs"/>
          <p:cNvSpPr txBox="1"/>
          <p:nvPr/>
        </p:nvSpPr>
        <p:spPr>
          <a:xfrm>
            <a:off x="18796000" y="508000"/>
            <a:ext cx="5080000" cy="12827000"/>
          </a:xfrm>
          <a:prstGeom prst="rect">
            <a:avLst/>
          </a:prstGeom>
          <a:noFill/>
        </p:spPr>
        <p:txBody>
          <a:bodyPr wrap="square" anchor="t" lIns="0" rIns="0" tIns="0" bIns="0"/>
          <a:lstStyle/>
          <a:p>
            <a:pPr algn="ctr">
              <a:spcAft>
                <a:spcPts val="1600"/>
              </a:spcAft>
            </a:pPr>
            <a:r>
              <a:rPr sz="5000" b="0" i="0">
                <a:solidFill>
                  <a:srgbClr val="000000"/>
                </a:solidFill>
                <a:latin typeface="Noteworthy"/>
              </a:rPr>
              <a:t>T-House Specs.</a:t>
            </a:r>
          </a:p>
          <a:p>
            <a:pPr algn="ctr">
              <a:spcBef>
                <a:spcPts val="2400"/>
              </a:spcBef>
            </a:pPr>
            <a:r>
              <a:rPr sz="4400" b="1" i="0">
                <a:solidFill>
                  <a:srgbClr val="0076BA"/>
                </a:solidFill>
                <a:latin typeface="Helvetica Neue"/>
              </a:rPr>
              <a:t>400 or 800 sq.ft.</a:t>
            </a:r>
          </a:p>
          <a:p>
            <a:pPr algn="ctr">
              <a:spcAft>
                <a:spcPts val="400"/>
              </a:spcAft>
            </a:pPr>
            <a:r>
              <a:rPr sz="2000" b="0" i="0">
                <a:solidFill>
                  <a:srgbClr val="1D1D1F"/>
                </a:solidFill>
                <a:latin typeface="Helvetica Neue"/>
              </a:rPr>
              <a:t>includes</a:t>
            </a:r>
          </a:p>
          <a:p>
            <a:pPr algn="ctr"/>
            <a:r>
              <a:rPr sz="4600" b="0" i="0">
                <a:solidFill>
                  <a:srgbClr val="1D1D1F"/>
                </a:solidFill>
                <a:latin typeface="Helvetica Neue"/>
              </a:rPr>
              <a:t>Open Concept</a:t>
            </a:r>
          </a:p>
          <a:p>
            <a:pPr algn="ctr"/>
            <a:r>
              <a:rPr sz="4600" b="0" i="0">
                <a:solidFill>
                  <a:srgbClr val="1D1D1F"/>
                </a:solidFill>
                <a:latin typeface="Helvetica Neue"/>
              </a:rPr>
              <a:t>LR - DR - KT</a:t>
            </a:r>
          </a:p>
          <a:p>
            <a:pPr algn="ctr"/>
            <a:r>
              <a:rPr sz="4600" b="0" i="0">
                <a:solidFill>
                  <a:srgbClr val="1D1D1F"/>
                </a:solidFill>
                <a:latin typeface="Helvetica Neue"/>
              </a:rPr>
              <a:t>2x BR - 1x Bath</a:t>
            </a:r>
          </a:p>
          <a:p>
            <a:pPr algn="l" marL="279400" indent="-279400">
              <a:spcBef>
                <a:spcPts val="600"/>
              </a:spcBef>
            </a:pPr>
            <a:r>
              <a:rPr sz="2100" b="0" i="0">
                <a:solidFill>
                  <a:srgbClr val="1D1D1F"/>
                </a:solidFill>
                <a:latin typeface="Helvetica Neue"/>
              </a:rPr>
              <a:t>•  Finished inside, but not furnished.</a:t>
            </a:r>
          </a:p>
          <a:p>
            <a:pPr algn="l" marL="279400" indent="-279400">
              <a:spcBef>
                <a:spcPts val="200"/>
              </a:spcBef>
            </a:pPr>
            <a:r>
              <a:rPr sz="2100" b="0" i="0">
                <a:solidFill>
                  <a:srgbClr val="1D1D1F"/>
                </a:solidFill>
                <a:latin typeface="Helvetica Neue"/>
              </a:rPr>
              <a:t>•  Mobile platform not included: may negate the need for Building Permits in many jurisdictions.</a:t>
            </a:r>
          </a:p>
          <a:p>
            <a:pPr algn="ctr">
              <a:spcBef>
                <a:spcPts val="2200"/>
              </a:spcBef>
              <a:spcAft>
                <a:spcPts val="1800"/>
              </a:spcAft>
            </a:pPr>
            <a:r>
              <a:rPr sz="2800" b="1" i="0">
                <a:solidFill>
                  <a:srgbClr val="0076BA"/>
                </a:solidFill>
                <a:latin typeface="Helvetica Neue"/>
              </a:rPr>
              <a:t>From $150 CAD / sq.ft.</a:t>
            </a:r>
          </a:p>
          <a:p>
            <a:pPr algn="l"/>
            <a:r>
              <a:rPr sz="3200" b="0" i="0">
                <a:solidFill>
                  <a:srgbClr val="1D1D1F"/>
                </a:solidFill>
                <a:latin typeface="Helvetica Neue"/>
              </a:rPr>
              <a:t>Optional services</a:t>
            </a:r>
          </a:p>
          <a:p>
            <a:pPr algn="l">
              <a:spcAft>
                <a:spcPts val="800"/>
              </a:spcAft>
            </a:pPr>
            <a:r>
              <a:rPr sz="1500" b="0" i="0">
                <a:solidFill>
                  <a:srgbClr val="1D1D1F"/>
                </a:solidFill>
                <a:latin typeface="Helvetica Neue"/>
              </a:rPr>
              <a:t>(where available)</a:t>
            </a:r>
          </a:p>
          <a:p>
            <a:pPr algn="l" marL="279400" indent="-279400">
              <a:spcAft>
                <a:spcPts val="300"/>
              </a:spcAft>
            </a:pPr>
            <a:r>
              <a:rPr sz="2200" b="0" i="0">
                <a:solidFill>
                  <a:srgbClr val="1D1D1F"/>
                </a:solidFill>
                <a:latin typeface="Helvetica Neue"/>
              </a:rPr>
              <a:t>•  Driveway</a:t>
            </a:r>
          </a:p>
          <a:p>
            <a:pPr algn="l" marL="279400" indent="-279400">
              <a:spcAft>
                <a:spcPts val="300"/>
              </a:spcAft>
            </a:pPr>
            <a:r>
              <a:rPr sz="2200" b="0" i="0">
                <a:solidFill>
                  <a:srgbClr val="1D1D1F"/>
                </a:solidFill>
                <a:latin typeface="Helvetica Neue"/>
              </a:rPr>
              <a:t>•  Building Site</a:t>
            </a:r>
          </a:p>
          <a:p>
            <a:pPr algn="l" marL="279400" indent="-279400">
              <a:spcAft>
                <a:spcPts val="300"/>
              </a:spcAft>
            </a:pPr>
            <a:r>
              <a:rPr sz="2200" b="0" i="0">
                <a:solidFill>
                  <a:srgbClr val="1D1D1F"/>
                </a:solidFill>
                <a:latin typeface="Helvetica Neue"/>
              </a:rPr>
              <a:t>•  Platform / Foundation</a:t>
            </a:r>
          </a:p>
          <a:p>
            <a:pPr algn="l" marL="279400" indent="-279400">
              <a:spcAft>
                <a:spcPts val="300"/>
              </a:spcAft>
            </a:pPr>
            <a:r>
              <a:rPr sz="2200" b="0" i="0">
                <a:solidFill>
                  <a:srgbClr val="1D1D1F"/>
                </a:solidFill>
                <a:latin typeface="Helvetica Neue"/>
              </a:rPr>
              <a:t>•  Unit Transport &amp; Assembly</a:t>
            </a:r>
          </a:p>
          <a:p>
            <a:pPr algn="l" marL="279400" indent="-279400">
              <a:spcAft>
                <a:spcPts val="300"/>
              </a:spcAft>
            </a:pPr>
            <a:r>
              <a:rPr sz="2200" b="0" i="0">
                <a:solidFill>
                  <a:srgbClr val="1D1D1F"/>
                </a:solidFill>
                <a:latin typeface="Helvetica Neue"/>
              </a:rPr>
              <a:t>•  Water &amp; Disposal Systems</a:t>
            </a:r>
          </a:p>
          <a:p>
            <a:pPr algn="l" marL="279400" indent="-279400">
              <a:spcAft>
                <a:spcPts val="300"/>
              </a:spcAft>
            </a:pPr>
            <a:r>
              <a:rPr sz="2200" b="0" i="0">
                <a:solidFill>
                  <a:srgbClr val="1D1D1F"/>
                </a:solidFill>
                <a:latin typeface="Helvetica Neue"/>
              </a:rPr>
              <a:t>•  Solar &amp; Storage</a:t>
            </a:r>
          </a:p>
          <a:p>
            <a:pPr algn="l" marL="279400" indent="-279400">
              <a:spcAft>
                <a:spcPts val="300"/>
              </a:spcAft>
            </a:pPr>
            <a:r>
              <a:rPr sz="2200" b="0" i="0">
                <a:solidFill>
                  <a:srgbClr val="1D1D1F"/>
                </a:solidFill>
                <a:latin typeface="Helvetica Neue"/>
              </a:rPr>
              <a:t>•  Heating &amp; Cooling</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art-full.png"/>
          <p:cNvPicPr>
            <a:picLocks noGrp="1" noChangeAspect="1"/>
          </p:cNvPicPr>
          <p:nvPr>
            <p:ph type="pic" idx="10" sz="quarter"/>
          </p:nvPr>
        </p:nvPicPr>
        <p:blipFill>
          <a:blip r:embed="rId2"/>
          <a:srcRect/>
          <a:stretch>
            <a:fillRect/>
          </a:stretch>
        </p:blipFill>
        <p:spPr/>
      </p:pic>
      <p:sp>
        <p:nvSpPr>
          <p:cNvPr id="3" name="Title"/>
          <p:cNvSpPr txBox="1"/>
          <p:nvPr/>
        </p:nvSpPr>
        <p:spPr>
          <a:xfrm>
            <a:off x="2032000" y="50800"/>
            <a:ext cx="20320000" cy="2032000"/>
          </a:xfrm>
          <a:prstGeom prst="rect">
            <a:avLst/>
          </a:prstGeom>
          <a:noFill/>
        </p:spPr>
        <p:txBody>
          <a:bodyPr wrap="square" anchor="ctr" lIns="0" rIns="0" tIns="0" bIns="0"/>
          <a:lstStyle/>
          <a:p>
            <a:pPr algn="ctr"/>
            <a:r>
              <a:rPr sz="12800" b="1" i="0">
                <a:solidFill>
                  <a:srgbClr val="FFFFFF"/>
                </a:solidFill>
                <a:latin typeface="Arial Rounded MT Bold"/>
              </a:rPr>
              <a:t>The Parting Shot…!</a:t>
            </a:r>
          </a:p>
        </p:txBody>
      </p:sp>
      <p:sp>
        <p:nvSpPr>
          <p:cNvPr id="4" name="Rectangle 3"/>
          <p:cNvSpPr/>
          <p:nvPr/>
        </p:nvSpPr>
        <p:spPr>
          <a:xfrm>
            <a:off x="0" y="12192000"/>
            <a:ext cx="24384000" cy="1524000"/>
          </a:xfrm>
          <a:prstGeom prst="rect">
            <a:avLst/>
          </a:prstGeom>
          <a:solidFill>
            <a:srgbClr val="00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Caption"/>
          <p:cNvSpPr txBox="1"/>
          <p:nvPr/>
        </p:nvSpPr>
        <p:spPr>
          <a:xfrm>
            <a:off x="0" y="12192000"/>
            <a:ext cx="24384000" cy="1524000"/>
          </a:xfrm>
          <a:prstGeom prst="rect">
            <a:avLst/>
          </a:prstGeom>
          <a:noFill/>
        </p:spPr>
        <p:txBody>
          <a:bodyPr wrap="square" anchor="ctr" lIns="0" rIns="0" tIns="0" bIns="0"/>
          <a:lstStyle/>
          <a:p>
            <a:pPr algn="ctr"/>
            <a:r>
              <a:rPr sz="5400" b="0" i="0">
                <a:solidFill>
                  <a:srgbClr val="FFFFFF"/>
                </a:solidFill>
                <a:latin typeface="Noteworthy"/>
              </a:rPr>
              <a:t>Outro Page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Talispros™ Demo eBook template (Replace Image)</dc:title>
  <dc:subject/>
  <dc:creator>Talispros™</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